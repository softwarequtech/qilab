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9" r:id="rId3"/>
    <p:sldId id="260" r:id="rId4"/>
    <p:sldId id="261" r:id="rId5"/>
    <p:sldId id="263" r:id="rId6"/>
    <p:sldId id="257" r:id="rId7"/>
    <p:sldId id="258" r:id="rId8"/>
    <p:sldId id="264" r:id="rId9"/>
    <p:sldId id="262" r:id="rId10"/>
    <p:sldId id="276" r:id="rId11"/>
    <p:sldId id="265" r:id="rId12"/>
    <p:sldId id="267" r:id="rId13"/>
    <p:sldId id="268" r:id="rId14"/>
    <p:sldId id="269" r:id="rId15"/>
    <p:sldId id="271" r:id="rId16"/>
    <p:sldId id="273" r:id="rId17"/>
    <p:sldId id="293" r:id="rId18"/>
    <p:sldId id="285" r:id="rId19"/>
    <p:sldId id="286" r:id="rId20"/>
    <p:sldId id="266" r:id="rId21"/>
    <p:sldId id="300" r:id="rId22"/>
    <p:sldId id="301" r:id="rId23"/>
    <p:sldId id="302"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949E"/>
    <a:srgbClr val="6C72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1" autoAdjust="0"/>
    <p:restoredTop sz="94610"/>
  </p:normalViewPr>
  <p:slideViewPr>
    <p:cSldViewPr snapToGrid="0" snapToObjects="1">
      <p:cViewPr varScale="1">
        <p:scale>
          <a:sx n="155" d="100"/>
          <a:sy n="155" d="100"/>
        </p:scale>
        <p:origin x="162"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en Kolev" userId="fb231488-eb43-494a-87dc-5e43187a03b2" providerId="ADAL" clId="{82973A77-B005-40EA-9312-A106D1938970}"/>
    <pc:docChg chg="delSld modSld">
      <pc:chgData name="Milen Kolev" userId="fb231488-eb43-494a-87dc-5e43187a03b2" providerId="ADAL" clId="{82973A77-B005-40EA-9312-A106D1938970}" dt="2026-10-07T08:26:13.965" v="20" actId="47"/>
      <pc:docMkLst>
        <pc:docMk/>
      </pc:docMkLst>
      <pc:sldChg chg="del">
        <pc:chgData name="Milen Kolev" userId="fb231488-eb43-494a-87dc-5e43187a03b2" providerId="ADAL" clId="{82973A77-B005-40EA-9312-A106D1938970}" dt="2026-10-07T08:24:30.609" v="1" actId="47"/>
        <pc:sldMkLst>
          <pc:docMk/>
          <pc:sldMk cId="0" sldId="270"/>
        </pc:sldMkLst>
      </pc:sldChg>
      <pc:sldChg chg="modSp mod">
        <pc:chgData name="Milen Kolev" userId="fb231488-eb43-494a-87dc-5e43187a03b2" providerId="ADAL" clId="{82973A77-B005-40EA-9312-A106D1938970}" dt="2026-10-07T08:24:54.533" v="4" actId="20577"/>
        <pc:sldMkLst>
          <pc:docMk/>
          <pc:sldMk cId="0" sldId="271"/>
        </pc:sldMkLst>
        <pc:spChg chg="mod">
          <ac:chgData name="Milen Kolev" userId="fb231488-eb43-494a-87dc-5e43187a03b2" providerId="ADAL" clId="{82973A77-B005-40EA-9312-A106D1938970}" dt="2026-10-07T08:24:54.533" v="4" actId="20577"/>
          <ac:spMkLst>
            <pc:docMk/>
            <pc:sldMk cId="0" sldId="271"/>
            <ac:spMk id="12" creationId="{00000000-0000-0000-0000-000000000000}"/>
          </ac:spMkLst>
        </pc:spChg>
      </pc:sldChg>
      <pc:sldChg chg="del">
        <pc:chgData name="Milen Kolev" userId="fb231488-eb43-494a-87dc-5e43187a03b2" providerId="ADAL" clId="{82973A77-B005-40EA-9312-A106D1938970}" dt="2026-10-07T08:24:41.711" v="2" actId="47"/>
        <pc:sldMkLst>
          <pc:docMk/>
          <pc:sldMk cId="0" sldId="272"/>
        </pc:sldMkLst>
      </pc:sldChg>
      <pc:sldChg chg="modSp mod">
        <pc:chgData name="Milen Kolev" userId="fb231488-eb43-494a-87dc-5e43187a03b2" providerId="ADAL" clId="{82973A77-B005-40EA-9312-A106D1938970}" dt="2026-10-07T08:25:45.256" v="7" actId="6549"/>
        <pc:sldMkLst>
          <pc:docMk/>
          <pc:sldMk cId="0" sldId="273"/>
        </pc:sldMkLst>
        <pc:spChg chg="mod">
          <ac:chgData name="Milen Kolev" userId="fb231488-eb43-494a-87dc-5e43187a03b2" providerId="ADAL" clId="{82973A77-B005-40EA-9312-A106D1938970}" dt="2026-10-07T08:25:45.256" v="7" actId="6549"/>
          <ac:spMkLst>
            <pc:docMk/>
            <pc:sldMk cId="0" sldId="273"/>
            <ac:spMk id="12" creationId="{00000000-0000-0000-0000-000000000000}"/>
          </ac:spMkLst>
        </pc:spChg>
      </pc:sldChg>
      <pc:sldChg chg="del">
        <pc:chgData name="Milen Kolev" userId="fb231488-eb43-494a-87dc-5e43187a03b2" providerId="ADAL" clId="{82973A77-B005-40EA-9312-A106D1938970}" dt="2026-10-07T08:26:01.425" v="11" actId="47"/>
        <pc:sldMkLst>
          <pc:docMk/>
          <pc:sldMk cId="0" sldId="275"/>
        </pc:sldMkLst>
      </pc:sldChg>
      <pc:sldChg chg="del">
        <pc:chgData name="Milen Kolev" userId="fb231488-eb43-494a-87dc-5e43187a03b2" providerId="ADAL" clId="{82973A77-B005-40EA-9312-A106D1938970}" dt="2026-10-07T08:26:04.887" v="13" actId="47"/>
        <pc:sldMkLst>
          <pc:docMk/>
          <pc:sldMk cId="2189633052" sldId="277"/>
        </pc:sldMkLst>
      </pc:sldChg>
      <pc:sldChg chg="del">
        <pc:chgData name="Milen Kolev" userId="fb231488-eb43-494a-87dc-5e43187a03b2" providerId="ADAL" clId="{82973A77-B005-40EA-9312-A106D1938970}" dt="2026-10-07T08:26:06.066" v="14" actId="47"/>
        <pc:sldMkLst>
          <pc:docMk/>
          <pc:sldMk cId="3133627547" sldId="278"/>
        </pc:sldMkLst>
      </pc:sldChg>
      <pc:sldChg chg="del">
        <pc:chgData name="Milen Kolev" userId="fb231488-eb43-494a-87dc-5e43187a03b2" providerId="ADAL" clId="{82973A77-B005-40EA-9312-A106D1938970}" dt="2026-10-07T08:26:02.849" v="12" actId="47"/>
        <pc:sldMkLst>
          <pc:docMk/>
          <pc:sldMk cId="1234855565" sldId="283"/>
        </pc:sldMkLst>
      </pc:sldChg>
      <pc:sldChg chg="del">
        <pc:chgData name="Milen Kolev" userId="fb231488-eb43-494a-87dc-5e43187a03b2" providerId="ADAL" clId="{82973A77-B005-40EA-9312-A106D1938970}" dt="2026-10-07T08:26:07.379" v="15" actId="47"/>
        <pc:sldMkLst>
          <pc:docMk/>
          <pc:sldMk cId="3767372552" sldId="284"/>
        </pc:sldMkLst>
      </pc:sldChg>
      <pc:sldChg chg="del">
        <pc:chgData name="Milen Kolev" userId="fb231488-eb43-494a-87dc-5e43187a03b2" providerId="ADAL" clId="{82973A77-B005-40EA-9312-A106D1938970}" dt="2026-10-07T08:26:00.001" v="10" actId="47"/>
        <pc:sldMkLst>
          <pc:docMk/>
          <pc:sldMk cId="1514849402" sldId="287"/>
        </pc:sldMkLst>
      </pc:sldChg>
      <pc:sldChg chg="del">
        <pc:chgData name="Milen Kolev" userId="fb231488-eb43-494a-87dc-5e43187a03b2" providerId="ADAL" clId="{82973A77-B005-40EA-9312-A106D1938970}" dt="2026-10-07T08:26:08.671" v="16" actId="47"/>
        <pc:sldMkLst>
          <pc:docMk/>
          <pc:sldMk cId="4206381030" sldId="288"/>
        </pc:sldMkLst>
      </pc:sldChg>
      <pc:sldChg chg="del">
        <pc:chgData name="Milen Kolev" userId="fb231488-eb43-494a-87dc-5e43187a03b2" providerId="ADAL" clId="{82973A77-B005-40EA-9312-A106D1938970}" dt="2026-10-07T08:26:11.493" v="18" actId="47"/>
        <pc:sldMkLst>
          <pc:docMk/>
          <pc:sldMk cId="2259165503" sldId="289"/>
        </pc:sldMkLst>
      </pc:sldChg>
      <pc:sldChg chg="del">
        <pc:chgData name="Milen Kolev" userId="fb231488-eb43-494a-87dc-5e43187a03b2" providerId="ADAL" clId="{82973A77-B005-40EA-9312-A106D1938970}" dt="2026-10-07T08:26:12.718" v="19" actId="47"/>
        <pc:sldMkLst>
          <pc:docMk/>
          <pc:sldMk cId="3518262283" sldId="290"/>
        </pc:sldMkLst>
      </pc:sldChg>
      <pc:sldChg chg="del">
        <pc:chgData name="Milen Kolev" userId="fb231488-eb43-494a-87dc-5e43187a03b2" providerId="ADAL" clId="{82973A77-B005-40EA-9312-A106D1938970}" dt="2026-10-07T08:25:51.599" v="8" actId="47"/>
        <pc:sldMkLst>
          <pc:docMk/>
          <pc:sldMk cId="3109923051" sldId="291"/>
        </pc:sldMkLst>
      </pc:sldChg>
      <pc:sldChg chg="del">
        <pc:chgData name="Milen Kolev" userId="fb231488-eb43-494a-87dc-5e43187a03b2" providerId="ADAL" clId="{82973A77-B005-40EA-9312-A106D1938970}" dt="2026-10-07T08:25:54.175" v="9" actId="47"/>
        <pc:sldMkLst>
          <pc:docMk/>
          <pc:sldMk cId="895100300" sldId="292"/>
        </pc:sldMkLst>
      </pc:sldChg>
      <pc:sldChg chg="del">
        <pc:chgData name="Milen Kolev" userId="fb231488-eb43-494a-87dc-5e43187a03b2" providerId="ADAL" clId="{82973A77-B005-40EA-9312-A106D1938970}" dt="2026-10-07T08:25:25.302" v="5" actId="47"/>
        <pc:sldMkLst>
          <pc:docMk/>
          <pc:sldMk cId="3780122293" sldId="294"/>
        </pc:sldMkLst>
      </pc:sldChg>
      <pc:sldChg chg="del">
        <pc:chgData name="Milen Kolev" userId="fb231488-eb43-494a-87dc-5e43187a03b2" providerId="ADAL" clId="{82973A77-B005-40EA-9312-A106D1938970}" dt="2026-10-07T08:25:27.472" v="6" actId="47"/>
        <pc:sldMkLst>
          <pc:docMk/>
          <pc:sldMk cId="2153094832" sldId="295"/>
        </pc:sldMkLst>
      </pc:sldChg>
      <pc:sldChg chg="del">
        <pc:chgData name="Milen Kolev" userId="fb231488-eb43-494a-87dc-5e43187a03b2" providerId="ADAL" clId="{82973A77-B005-40EA-9312-A106D1938970}" dt="2026-10-07T08:26:09.795" v="17" actId="47"/>
        <pc:sldMkLst>
          <pc:docMk/>
          <pc:sldMk cId="3525617494" sldId="296"/>
        </pc:sldMkLst>
      </pc:sldChg>
      <pc:sldChg chg="del">
        <pc:chgData name="Milen Kolev" userId="fb231488-eb43-494a-87dc-5e43187a03b2" providerId="ADAL" clId="{82973A77-B005-40EA-9312-A106D1938970}" dt="2026-10-07T08:26:13.965" v="20" actId="47"/>
        <pc:sldMkLst>
          <pc:docMk/>
          <pc:sldMk cId="2607689376" sldId="297"/>
        </pc:sldMkLst>
      </pc:sldChg>
      <pc:sldChg chg="del">
        <pc:chgData name="Milen Kolev" userId="fb231488-eb43-494a-87dc-5e43187a03b2" providerId="ADAL" clId="{82973A77-B005-40EA-9312-A106D1938970}" dt="2026-10-07T08:24:00.211" v="0" actId="47"/>
        <pc:sldMkLst>
          <pc:docMk/>
          <pc:sldMk cId="1021787745"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382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2930-639D-918A-5082-9A6062636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71F68-FF59-F3BE-2097-9B027569F2CB}"/>
              </a:ext>
            </a:extLst>
          </p:cNvPr>
          <p:cNvSpPr>
            <a:spLocks noGrp="1" noRot="1" noChangeAspect="1"/>
          </p:cNvSpPr>
          <p:nvPr>
            <p:ph type="sldImg"/>
          </p:nvPr>
        </p:nvSpPr>
        <p:spPr/>
        <p:txBody>
          <a:bodyPr/>
          <a:lstStyle/>
          <a:p>
            <a:endParaRPr lang="nl-NL"/>
          </a:p>
        </p:txBody>
      </p:sp>
      <p:sp>
        <p:nvSpPr>
          <p:cNvPr id="3" name="Notes Placeholder 2">
            <a:extLst>
              <a:ext uri="{FF2B5EF4-FFF2-40B4-BE49-F238E27FC236}">
                <a16:creationId xmlns:a16="http://schemas.microsoft.com/office/drawing/2014/main" id="{A9DA8281-5AA5-19B9-99A3-D33A3919C2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161B8B-CE20-29AC-FDEE-EEBB8083C4B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45501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0F1D3A"/>
          </a:solidFill>
          <a:ln w="12700">
            <a:solidFill>
              <a:srgbClr val="0F1D3A"/>
            </a:solidFill>
            <a:prstDash val="solid"/>
          </a:ln>
        </p:spPr>
        <p:txBody>
          <a:bodyPr/>
          <a:lstStyle/>
          <a:p>
            <a:endParaRPr lang="nl-NL"/>
          </a:p>
        </p:txBody>
      </p:sp>
      <p:sp>
        <p:nvSpPr>
          <p:cNvPr id="3" name="Shape 1"/>
          <p:cNvSpPr/>
          <p:nvPr/>
        </p:nvSpPr>
        <p:spPr>
          <a:xfrm>
            <a:off x="594360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4" name="Shape 2"/>
          <p:cNvSpPr/>
          <p:nvPr/>
        </p:nvSpPr>
        <p:spPr>
          <a:xfrm>
            <a:off x="649224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5" name="Shape 3"/>
          <p:cNvSpPr/>
          <p:nvPr/>
        </p:nvSpPr>
        <p:spPr>
          <a:xfrm>
            <a:off x="704088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6" name="Shape 4"/>
          <p:cNvSpPr/>
          <p:nvPr/>
        </p:nvSpPr>
        <p:spPr>
          <a:xfrm>
            <a:off x="758952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7" name="Shape 5"/>
          <p:cNvSpPr/>
          <p:nvPr/>
        </p:nvSpPr>
        <p:spPr>
          <a:xfrm>
            <a:off x="813816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8" name="Shape 6"/>
          <p:cNvSpPr/>
          <p:nvPr/>
        </p:nvSpPr>
        <p:spPr>
          <a:xfrm>
            <a:off x="594360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9" name="Shape 7"/>
          <p:cNvSpPr/>
          <p:nvPr/>
        </p:nvSpPr>
        <p:spPr>
          <a:xfrm>
            <a:off x="649224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0" name="Shape 8"/>
          <p:cNvSpPr/>
          <p:nvPr/>
        </p:nvSpPr>
        <p:spPr>
          <a:xfrm>
            <a:off x="704088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1" name="Shape 9"/>
          <p:cNvSpPr/>
          <p:nvPr/>
        </p:nvSpPr>
        <p:spPr>
          <a:xfrm>
            <a:off x="758952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2" name="Shape 10"/>
          <p:cNvSpPr/>
          <p:nvPr/>
        </p:nvSpPr>
        <p:spPr>
          <a:xfrm>
            <a:off x="813816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3" name="Shape 11"/>
          <p:cNvSpPr/>
          <p:nvPr/>
        </p:nvSpPr>
        <p:spPr>
          <a:xfrm>
            <a:off x="594360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4" name="Shape 12"/>
          <p:cNvSpPr/>
          <p:nvPr/>
        </p:nvSpPr>
        <p:spPr>
          <a:xfrm>
            <a:off x="649224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5" name="Shape 13"/>
          <p:cNvSpPr/>
          <p:nvPr/>
        </p:nvSpPr>
        <p:spPr>
          <a:xfrm>
            <a:off x="704088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6" name="Shape 14"/>
          <p:cNvSpPr/>
          <p:nvPr/>
        </p:nvSpPr>
        <p:spPr>
          <a:xfrm>
            <a:off x="758952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7" name="Shape 15"/>
          <p:cNvSpPr/>
          <p:nvPr/>
        </p:nvSpPr>
        <p:spPr>
          <a:xfrm>
            <a:off x="813816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8" name="Shape 16"/>
          <p:cNvSpPr/>
          <p:nvPr/>
        </p:nvSpPr>
        <p:spPr>
          <a:xfrm>
            <a:off x="594360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19" name="Shape 17"/>
          <p:cNvSpPr/>
          <p:nvPr/>
        </p:nvSpPr>
        <p:spPr>
          <a:xfrm>
            <a:off x="649224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0" name="Shape 18"/>
          <p:cNvSpPr/>
          <p:nvPr/>
        </p:nvSpPr>
        <p:spPr>
          <a:xfrm>
            <a:off x="704088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1" name="Shape 19"/>
          <p:cNvSpPr/>
          <p:nvPr/>
        </p:nvSpPr>
        <p:spPr>
          <a:xfrm>
            <a:off x="758952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2" name="Shape 20"/>
          <p:cNvSpPr/>
          <p:nvPr/>
        </p:nvSpPr>
        <p:spPr>
          <a:xfrm>
            <a:off x="813816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3" name="Shape 21"/>
          <p:cNvSpPr/>
          <p:nvPr/>
        </p:nvSpPr>
        <p:spPr>
          <a:xfrm>
            <a:off x="594360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4" name="Shape 22"/>
          <p:cNvSpPr/>
          <p:nvPr/>
        </p:nvSpPr>
        <p:spPr>
          <a:xfrm>
            <a:off x="649224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5" name="Shape 23"/>
          <p:cNvSpPr/>
          <p:nvPr/>
        </p:nvSpPr>
        <p:spPr>
          <a:xfrm>
            <a:off x="704088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6" name="Shape 24"/>
          <p:cNvSpPr/>
          <p:nvPr/>
        </p:nvSpPr>
        <p:spPr>
          <a:xfrm>
            <a:off x="758952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7" name="Shape 25"/>
          <p:cNvSpPr/>
          <p:nvPr/>
        </p:nvSpPr>
        <p:spPr>
          <a:xfrm>
            <a:off x="813816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8" name="Shape 26"/>
          <p:cNvSpPr/>
          <p:nvPr/>
        </p:nvSpPr>
        <p:spPr>
          <a:xfrm>
            <a:off x="594360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29" name="Shape 27"/>
          <p:cNvSpPr/>
          <p:nvPr/>
        </p:nvSpPr>
        <p:spPr>
          <a:xfrm>
            <a:off x="649224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0" name="Shape 28"/>
          <p:cNvSpPr/>
          <p:nvPr/>
        </p:nvSpPr>
        <p:spPr>
          <a:xfrm>
            <a:off x="704088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1" name="Shape 29"/>
          <p:cNvSpPr/>
          <p:nvPr/>
        </p:nvSpPr>
        <p:spPr>
          <a:xfrm>
            <a:off x="758952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2" name="Shape 30"/>
          <p:cNvSpPr/>
          <p:nvPr/>
        </p:nvSpPr>
        <p:spPr>
          <a:xfrm>
            <a:off x="813816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3" name="Shape 31"/>
          <p:cNvSpPr/>
          <p:nvPr/>
        </p:nvSpPr>
        <p:spPr>
          <a:xfrm>
            <a:off x="6858000" y="1097280"/>
            <a:ext cx="1645920" cy="1645920"/>
          </a:xfrm>
          <a:prstGeom prst="ellipse">
            <a:avLst/>
          </a:prstGeom>
          <a:solidFill>
            <a:srgbClr val="253D78"/>
          </a:solidFill>
          <a:ln w="25400">
            <a:solidFill>
              <a:srgbClr val="F5C518"/>
            </a:solidFill>
            <a:prstDash val="solid"/>
          </a:ln>
        </p:spPr>
        <p:txBody>
          <a:bodyPr/>
          <a:lstStyle/>
          <a:p>
            <a:endParaRPr lang="nl-NL"/>
          </a:p>
        </p:txBody>
      </p:sp>
      <p:sp>
        <p:nvSpPr>
          <p:cNvPr id="34" name="Shape 32"/>
          <p:cNvSpPr/>
          <p:nvPr/>
        </p:nvSpPr>
        <p:spPr>
          <a:xfrm>
            <a:off x="7223760" y="2926080"/>
            <a:ext cx="914400" cy="914400"/>
          </a:xfrm>
          <a:prstGeom prst="ellipse">
            <a:avLst/>
          </a:prstGeom>
          <a:solidFill>
            <a:srgbClr val="F5C518"/>
          </a:solidFill>
          <a:ln w="12700">
            <a:solidFill>
              <a:srgbClr val="F5C518"/>
            </a:solidFill>
            <a:prstDash val="solid"/>
          </a:ln>
        </p:spPr>
        <p:txBody>
          <a:bodyPr/>
          <a:lstStyle/>
          <a:p>
            <a:endParaRPr lang="nl-NL"/>
          </a:p>
        </p:txBody>
      </p:sp>
      <p:sp>
        <p:nvSpPr>
          <p:cNvPr id="35" name="Text 33"/>
          <p:cNvSpPr/>
          <p:nvPr/>
        </p:nvSpPr>
        <p:spPr>
          <a:xfrm>
            <a:off x="548640" y="960120"/>
            <a:ext cx="4572000" cy="201168"/>
          </a:xfrm>
          <a:prstGeom prst="rect">
            <a:avLst/>
          </a:prstGeom>
          <a:noFill/>
          <a:ln/>
        </p:spPr>
        <p:txBody>
          <a:bodyPr wrap="square" lIns="0" tIns="0" rIns="0" bIns="0" rtlCol="0" anchor="ctr"/>
          <a:lstStyle/>
          <a:p>
            <a:pPr marL="0" indent="0">
              <a:buNone/>
            </a:pPr>
            <a:r>
              <a:rPr lang="en-US" sz="800" b="1" kern="0" spc="400" dirty="0">
                <a:solidFill>
                  <a:srgbClr val="F5C518"/>
                </a:solidFill>
                <a:latin typeface="Calibri" pitchFamily="34" charset="0"/>
                <a:ea typeface="Calibri" pitchFamily="34" charset="-122"/>
                <a:cs typeface="Calibri" pitchFamily="34" charset="-120"/>
              </a:rPr>
              <a:t>INTERNAL WORKSHOP</a:t>
            </a:r>
            <a:endParaRPr lang="en-US" sz="800" dirty="0"/>
          </a:p>
        </p:txBody>
      </p:sp>
      <p:sp>
        <p:nvSpPr>
          <p:cNvPr id="36" name="Text 34"/>
          <p:cNvSpPr/>
          <p:nvPr/>
        </p:nvSpPr>
        <p:spPr>
          <a:xfrm>
            <a:off x="548640" y="1188720"/>
            <a:ext cx="1051560" cy="1005840"/>
          </a:xfrm>
          <a:prstGeom prst="rect">
            <a:avLst/>
          </a:prstGeom>
          <a:noFill/>
          <a:ln/>
        </p:spPr>
        <p:txBody>
          <a:bodyPr wrap="square" lIns="0" tIns="0" rIns="0" bIns="0"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QI</a:t>
            </a:r>
            <a:endParaRPr lang="en-US" sz="7200" dirty="0"/>
          </a:p>
        </p:txBody>
      </p:sp>
      <p:sp>
        <p:nvSpPr>
          <p:cNvPr id="37" name="Text 35"/>
          <p:cNvSpPr/>
          <p:nvPr/>
        </p:nvSpPr>
        <p:spPr>
          <a:xfrm>
            <a:off x="1417320" y="1188720"/>
            <a:ext cx="2286000" cy="1005840"/>
          </a:xfrm>
          <a:prstGeom prst="rect">
            <a:avLst/>
          </a:prstGeom>
          <a:noFill/>
          <a:ln/>
        </p:spPr>
        <p:txBody>
          <a:bodyPr wrap="square" lIns="0" tIns="0" rIns="0" bIns="0" rtlCol="0" anchor="ctr"/>
          <a:lstStyle/>
          <a:p>
            <a:pPr marL="0" indent="0">
              <a:buNone/>
            </a:pPr>
            <a:r>
              <a:rPr lang="en-US" sz="7200" b="1" dirty="0">
                <a:solidFill>
                  <a:srgbClr val="F5C518"/>
                </a:solidFill>
                <a:latin typeface="Calibri" pitchFamily="34" charset="0"/>
                <a:ea typeface="Calibri" pitchFamily="34" charset="-122"/>
                <a:cs typeface="Calibri" pitchFamily="34" charset="-120"/>
              </a:rPr>
              <a:t>Lab</a:t>
            </a:r>
            <a:endParaRPr lang="en-US" sz="7200" dirty="0"/>
          </a:p>
        </p:txBody>
      </p:sp>
      <p:sp>
        <p:nvSpPr>
          <p:cNvPr id="38" name="Text 36"/>
          <p:cNvSpPr/>
          <p:nvPr/>
        </p:nvSpPr>
        <p:spPr>
          <a:xfrm>
            <a:off x="548640" y="2240280"/>
            <a:ext cx="4937760" cy="411480"/>
          </a:xfrm>
          <a:prstGeom prst="rect">
            <a:avLst/>
          </a:prstGeom>
          <a:noFill/>
          <a:ln/>
        </p:spPr>
        <p:txBody>
          <a:bodyPr wrap="square" lIns="0" tIns="0" rIns="0" bIns="0" rtlCol="0" anchor="ctr"/>
          <a:lstStyle/>
          <a:p>
            <a:pPr marL="0" indent="0">
              <a:buNone/>
            </a:pPr>
            <a:r>
              <a:rPr lang="en-US" sz="1400" dirty="0">
                <a:solidFill>
                  <a:srgbClr val="9DB8E0"/>
                </a:solidFill>
                <a:latin typeface="Calibri" pitchFamily="34" charset="0"/>
                <a:ea typeface="Calibri" pitchFamily="34" charset="-122"/>
                <a:cs typeface="Calibri" pitchFamily="34" charset="-120"/>
              </a:rPr>
              <a:t>Hardware-in-the-Loop Quantum Network Test Platform</a:t>
            </a:r>
            <a:endParaRPr lang="en-US" sz="1400" dirty="0"/>
          </a:p>
        </p:txBody>
      </p:sp>
      <p:sp>
        <p:nvSpPr>
          <p:cNvPr id="39" name="Shape 37"/>
          <p:cNvSpPr/>
          <p:nvPr/>
        </p:nvSpPr>
        <p:spPr>
          <a:xfrm>
            <a:off x="548640" y="2834640"/>
            <a:ext cx="3474720" cy="868680"/>
          </a:xfrm>
          <a:prstGeom prst="rect">
            <a:avLst/>
          </a:prstGeom>
          <a:solidFill>
            <a:srgbClr val="253D78"/>
          </a:solidFill>
          <a:ln w="12700">
            <a:solidFill>
              <a:srgbClr val="253D78"/>
            </a:solidFill>
            <a:prstDash val="solid"/>
          </a:ln>
        </p:spPr>
        <p:txBody>
          <a:bodyPr/>
          <a:lstStyle/>
          <a:p>
            <a:endParaRPr lang="nl-NL"/>
          </a:p>
        </p:txBody>
      </p:sp>
      <p:sp>
        <p:nvSpPr>
          <p:cNvPr id="40" name="Shape 38"/>
          <p:cNvSpPr/>
          <p:nvPr/>
        </p:nvSpPr>
        <p:spPr>
          <a:xfrm>
            <a:off x="548640" y="2834640"/>
            <a:ext cx="45720" cy="868680"/>
          </a:xfrm>
          <a:prstGeom prst="rect">
            <a:avLst/>
          </a:prstGeom>
          <a:solidFill>
            <a:srgbClr val="F5C518"/>
          </a:solidFill>
          <a:ln w="12700">
            <a:solidFill>
              <a:srgbClr val="F5C518"/>
            </a:solidFill>
            <a:prstDash val="solid"/>
          </a:ln>
        </p:spPr>
        <p:txBody>
          <a:bodyPr/>
          <a:lstStyle/>
          <a:p>
            <a:endParaRPr lang="nl-NL"/>
          </a:p>
        </p:txBody>
      </p:sp>
      <p:sp>
        <p:nvSpPr>
          <p:cNvPr id="41" name="Text 39"/>
          <p:cNvSpPr/>
          <p:nvPr/>
        </p:nvSpPr>
        <p:spPr>
          <a:xfrm>
            <a:off x="685800" y="2907792"/>
            <a:ext cx="3200400" cy="6858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Milen Kolev	</a:t>
            </a:r>
            <a:endParaRPr lang="en-US" sz="1200" dirty="0"/>
          </a:p>
          <a:p>
            <a:pPr marL="0" indent="0">
              <a:buNone/>
            </a:pPr>
            <a:r>
              <a:rPr lang="en-US" sz="1200" dirty="0">
                <a:solidFill>
                  <a:srgbClr val="9DB8E0"/>
                </a:solidFill>
                <a:latin typeface="Calibri" pitchFamily="34" charset="0"/>
                <a:ea typeface="Calibri" pitchFamily="34" charset="-122"/>
                <a:cs typeface="Calibri" pitchFamily="34" charset="-120"/>
              </a:rPr>
              <a:t>30-03-2026 · Delft</a:t>
            </a:r>
            <a:endParaRPr lang="en-US" sz="1200" dirty="0"/>
          </a:p>
        </p:txBody>
      </p:sp>
      <p:sp>
        <p:nvSpPr>
          <p:cNvPr id="42" name="Shape 40"/>
          <p:cNvSpPr/>
          <p:nvPr/>
        </p:nvSpPr>
        <p:spPr>
          <a:xfrm>
            <a:off x="0" y="4892040"/>
            <a:ext cx="9144000" cy="251460"/>
          </a:xfrm>
          <a:prstGeom prst="rect">
            <a:avLst/>
          </a:prstGeom>
          <a:solidFill>
            <a:srgbClr val="0F1D3A"/>
          </a:solidFill>
          <a:ln w="12700">
            <a:solidFill>
              <a:srgbClr val="0F1D3A"/>
            </a:solidFill>
            <a:prstDash val="solid"/>
          </a:ln>
        </p:spPr>
        <p:txBody>
          <a:bodyPr/>
          <a:lstStyle/>
          <a:p>
            <a:endParaRPr lang="nl-NL"/>
          </a:p>
        </p:txBody>
      </p:sp>
      <p:sp>
        <p:nvSpPr>
          <p:cNvPr id="43" name="Text 41"/>
          <p:cNvSpPr/>
          <p:nvPr/>
        </p:nvSpPr>
        <p:spPr>
          <a:xfrm>
            <a:off x="365760" y="4901184"/>
            <a:ext cx="8229600" cy="201168"/>
          </a:xfrm>
          <a:prstGeom prst="rect">
            <a:avLst/>
          </a:prstGeom>
          <a:noFill/>
          <a:ln/>
        </p:spPr>
        <p:txBody>
          <a:bodyPr wrap="square" lIns="0" tIns="0" rIns="0" bIns="0" rtlCol="0" anchor="ctr"/>
          <a:lstStyle/>
          <a:p>
            <a:pPr marL="0" indent="0">
              <a:buNone/>
            </a:pPr>
            <a:r>
              <a:rPr lang="en-US" sz="800" i="1" dirty="0">
                <a:solidFill>
                  <a:srgbClr val="4A6A9A"/>
                </a:solidFill>
                <a:latin typeface="Calibri" pitchFamily="34" charset="0"/>
                <a:ea typeface="Calibri" pitchFamily="34" charset="-122"/>
                <a:cs typeface="Calibri" pitchFamily="34" charset="-120"/>
              </a:rPr>
              <a:t>Internal use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F5C518"/>
          </a:solidFill>
          <a:ln w="12700">
            <a:solidFill>
              <a:srgbClr val="F5C518"/>
            </a:solidFill>
            <a:prstDash val="solid"/>
          </a:ln>
        </p:spPr>
        <p:txBody>
          <a:bodyPr/>
          <a:lstStyle/>
          <a:p>
            <a:endParaRPr lang="nl-NL"/>
          </a:p>
        </p:txBody>
      </p:sp>
      <p:sp>
        <p:nvSpPr>
          <p:cNvPr id="3" name="Text 1"/>
          <p:cNvSpPr/>
          <p:nvPr/>
        </p:nvSpPr>
        <p:spPr>
          <a:xfrm>
            <a:off x="548640" y="1188720"/>
            <a:ext cx="2286000" cy="1280160"/>
          </a:xfrm>
          <a:prstGeom prst="rect">
            <a:avLst/>
          </a:prstGeom>
          <a:noFill/>
          <a:ln/>
        </p:spPr>
        <p:txBody>
          <a:bodyPr wrap="square" lIns="0" tIns="0" rIns="0" bIns="0" rtlCol="0" anchor="ctr"/>
          <a:lstStyle/>
          <a:p>
            <a:pPr marL="0" indent="0">
              <a:buNone/>
            </a:pPr>
            <a:r>
              <a:rPr lang="en-US" sz="8000" b="1" dirty="0">
                <a:solidFill>
                  <a:srgbClr val="253D78"/>
                </a:solidFill>
                <a:latin typeface="Calibri" pitchFamily="34" charset="0"/>
                <a:ea typeface="Calibri" pitchFamily="34" charset="-122"/>
                <a:cs typeface="Calibri" pitchFamily="34" charset="-120"/>
              </a:rPr>
              <a:t>01</a:t>
            </a:r>
            <a:endParaRPr lang="en-US" sz="8000" dirty="0"/>
          </a:p>
        </p:txBody>
      </p:sp>
      <p:sp>
        <p:nvSpPr>
          <p:cNvPr id="4" name="Text 2"/>
          <p:cNvSpPr/>
          <p:nvPr/>
        </p:nvSpPr>
        <p:spPr>
          <a:xfrm>
            <a:off x="548640" y="2377440"/>
            <a:ext cx="777240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QI Lab Overview</a:t>
            </a:r>
            <a:endParaRPr lang="en-US" sz="3200" dirty="0"/>
          </a:p>
        </p:txBody>
      </p:sp>
      <p:sp>
        <p:nvSpPr>
          <p:cNvPr id="5" name="Text 3"/>
          <p:cNvSpPr/>
          <p:nvPr/>
        </p:nvSpPr>
        <p:spPr>
          <a:xfrm>
            <a:off x="548640" y="3090672"/>
            <a:ext cx="6400800" cy="365760"/>
          </a:xfrm>
          <a:prstGeom prst="rect">
            <a:avLst/>
          </a:prstGeom>
          <a:noFill/>
          <a:ln/>
        </p:spPr>
        <p:txBody>
          <a:bodyPr wrap="square" lIns="0" tIns="0" rIns="0" bIns="0" rtlCol="0" anchor="ctr"/>
          <a:lstStyle/>
          <a:p>
            <a:pPr marL="0" indent="0">
              <a:buNone/>
            </a:pPr>
            <a:r>
              <a:rPr lang="en-US" sz="1300" dirty="0">
                <a:solidFill>
                  <a:srgbClr val="9DB8E0"/>
                </a:solidFill>
                <a:latin typeface="Calibri" pitchFamily="34" charset="0"/>
                <a:ea typeface="Calibri" pitchFamily="34" charset="-122"/>
                <a:cs typeface="Calibri" pitchFamily="34" charset="-120"/>
              </a:rPr>
              <a:t>General description</a:t>
            </a:r>
          </a:p>
        </p:txBody>
      </p:sp>
      <p:sp>
        <p:nvSpPr>
          <p:cNvPr id="6" name="Shape 4"/>
          <p:cNvSpPr/>
          <p:nvPr/>
        </p:nvSpPr>
        <p:spPr>
          <a:xfrm>
            <a:off x="0" y="4892040"/>
            <a:ext cx="9144000" cy="251460"/>
          </a:xfrm>
          <a:prstGeom prst="rect">
            <a:avLst/>
          </a:prstGeom>
          <a:solidFill>
            <a:srgbClr val="0F1D3A"/>
          </a:solidFill>
          <a:ln w="12700">
            <a:solidFill>
              <a:srgbClr val="0F1D3A"/>
            </a:solidFill>
            <a:prstDash val="solid"/>
          </a:ln>
        </p:spPr>
        <p:txBody>
          <a:bodyPr/>
          <a:lstStyle/>
          <a:p>
            <a:endParaRPr lang="nl-NL"/>
          </a:p>
        </p:txBody>
      </p:sp>
      <p:sp>
        <p:nvSpPr>
          <p:cNvPr id="7" name="Text 5"/>
          <p:cNvSpPr/>
          <p:nvPr/>
        </p:nvSpPr>
        <p:spPr>
          <a:xfrm>
            <a:off x="365760" y="4901184"/>
            <a:ext cx="8229600" cy="201168"/>
          </a:xfrm>
          <a:prstGeom prst="rect">
            <a:avLst/>
          </a:prstGeom>
          <a:noFill/>
          <a:ln/>
        </p:spPr>
        <p:txBody>
          <a:bodyPr wrap="square" lIns="0" tIns="0" rIns="0" bIns="0" rtlCol="0" anchor="ctr"/>
          <a:lstStyle/>
          <a:p>
            <a:pPr marL="0" indent="0">
              <a:buNone/>
            </a:pPr>
            <a:r>
              <a:rPr lang="en-US" sz="800" i="1" dirty="0">
                <a:solidFill>
                  <a:srgbClr val="4A6A9A"/>
                </a:solidFill>
                <a:latin typeface="Calibri" pitchFamily="34" charset="0"/>
                <a:ea typeface="Calibri" pitchFamily="34" charset="-122"/>
                <a:cs typeface="Calibri" pitchFamily="34" charset="-120"/>
              </a:rPr>
              <a:t>Internal use only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 1"/>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 2"/>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 3"/>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QI Lab?</a:t>
            </a:r>
            <a:endParaRPr lang="en-US" sz="2200" dirty="0"/>
          </a:p>
        </p:txBody>
      </p:sp>
      <p:sp>
        <p:nvSpPr>
          <p:cNvPr id="6" name="Text 4"/>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ea typeface="Calibri" pitchFamily="34" charset="-122"/>
                <a:cs typeface="Calibri" pitchFamily="34" charset="-120"/>
              </a:rPr>
              <a:t>A hybrid hardware-in-the-loop platform for small local quantum networks</a:t>
            </a:r>
            <a:endParaRPr lang="en-US" sz="1100" dirty="0"/>
          </a:p>
        </p:txBody>
      </p:sp>
      <p:sp>
        <p:nvSpPr>
          <p:cNvPr id="7" name="Shape 5"/>
          <p:cNvSpPr/>
          <p:nvPr/>
        </p:nvSpPr>
        <p:spPr>
          <a:xfrm>
            <a:off x="320040" y="1115568"/>
            <a:ext cx="4160520" cy="3566160"/>
          </a:xfrm>
          <a:prstGeom prst="rect">
            <a:avLst/>
          </a:prstGeom>
          <a:solidFill>
            <a:srgbClr val="F0F5FC"/>
          </a:solidFill>
          <a:ln w="12700">
            <a:solidFill>
              <a:srgbClr val="C8D9F0"/>
            </a:solidFill>
            <a:prstDash val="solid"/>
          </a:ln>
        </p:spPr>
        <p:txBody>
          <a:bodyPr/>
          <a:lstStyle/>
          <a:p>
            <a:endParaRPr lang="nl-NL"/>
          </a:p>
        </p:txBody>
      </p:sp>
      <p:sp>
        <p:nvSpPr>
          <p:cNvPr id="8" name="Shape 6"/>
          <p:cNvSpPr/>
          <p:nvPr/>
        </p:nvSpPr>
        <p:spPr>
          <a:xfrm>
            <a:off x="320040" y="1115568"/>
            <a:ext cx="45720" cy="3566160"/>
          </a:xfrm>
          <a:prstGeom prst="rect">
            <a:avLst/>
          </a:prstGeom>
          <a:solidFill>
            <a:srgbClr val="F5C518"/>
          </a:solidFill>
          <a:ln w="12700">
            <a:solidFill>
              <a:srgbClr val="F5C518"/>
            </a:solidFill>
            <a:prstDash val="solid"/>
          </a:ln>
        </p:spPr>
        <p:txBody>
          <a:bodyPr/>
          <a:lstStyle/>
          <a:p>
            <a:endParaRPr lang="nl-NL"/>
          </a:p>
        </p:txBody>
      </p:sp>
      <p:sp>
        <p:nvSpPr>
          <p:cNvPr id="9" name="Text 7"/>
          <p:cNvSpPr/>
          <p:nvPr/>
        </p:nvSpPr>
        <p:spPr>
          <a:xfrm>
            <a:off x="457200" y="1207008"/>
            <a:ext cx="393192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GENERAL DESCRIPTION</a:t>
            </a:r>
            <a:endParaRPr lang="en-US" sz="800" dirty="0"/>
          </a:p>
        </p:txBody>
      </p:sp>
      <p:sp>
        <p:nvSpPr>
          <p:cNvPr id="10" name="Text 8"/>
          <p:cNvSpPr/>
          <p:nvPr/>
        </p:nvSpPr>
        <p:spPr>
          <a:xfrm>
            <a:off x="457200" y="1426464"/>
            <a:ext cx="3840480" cy="320040"/>
          </a:xfrm>
          <a:prstGeom prst="rect">
            <a:avLst/>
          </a:prstGeom>
          <a:noFill/>
          <a:ln/>
        </p:spPr>
        <p:txBody>
          <a:bodyPr wrap="square" lIns="0" tIns="0" rIns="0" bIns="0" rtlCol="0" anchor="ctr"/>
          <a:lstStyle/>
          <a:p>
            <a:pPr marL="0" indent="0">
              <a:buNone/>
            </a:pPr>
            <a:r>
              <a:rPr lang="en-US" sz="1300" b="1" dirty="0">
                <a:solidFill>
                  <a:srgbClr val="1A2E5A"/>
                </a:solidFill>
                <a:latin typeface="Calibri" pitchFamily="34" charset="0"/>
                <a:ea typeface="Calibri" pitchFamily="34" charset="-122"/>
                <a:cs typeface="Calibri" pitchFamily="34" charset="-120"/>
              </a:rPr>
              <a:t>Hybrid Hardware-in-the-Loop Platform</a:t>
            </a:r>
            <a:endParaRPr lang="en-US" sz="1300" dirty="0"/>
          </a:p>
        </p:txBody>
      </p:sp>
      <p:sp>
        <p:nvSpPr>
          <p:cNvPr id="11" name="Text 9"/>
          <p:cNvSpPr/>
          <p:nvPr/>
        </p:nvSpPr>
        <p:spPr>
          <a:xfrm>
            <a:off x="457200" y="1810512"/>
            <a:ext cx="3840480" cy="2651760"/>
          </a:xfrm>
          <a:prstGeom prst="rect">
            <a:avLst/>
          </a:prstGeom>
          <a:noFill/>
          <a:ln/>
        </p:spPr>
        <p:txBody>
          <a:bodyPr wrap="square" rtlCol="0" anchor="ctr"/>
          <a:lstStyle/>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Nodes combine real classical hardware (CNPU + QNPU) running QNodeOS</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Quantum device (QDevice) replaced by a simulator — no physical qubit hardware needed</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Designed for small co-located quantum networks</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Built for fast iteration, easy testing, and low cost of quantum network applications</a:t>
            </a:r>
            <a:endParaRPr lang="en-US" sz="1200" dirty="0"/>
          </a:p>
        </p:txBody>
      </p:sp>
      <p:sp>
        <p:nvSpPr>
          <p:cNvPr id="12" name="Text 10"/>
          <p:cNvSpPr/>
          <p:nvPr/>
        </p:nvSpPr>
        <p:spPr>
          <a:xfrm>
            <a:off x="4754880" y="1115568"/>
            <a:ext cx="406908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NETWORK ARCHITECTURE</a:t>
            </a:r>
            <a:endParaRPr lang="en-US" sz="800" dirty="0"/>
          </a:p>
        </p:txBody>
      </p:sp>
      <p:sp>
        <p:nvSpPr>
          <p:cNvPr id="13" name="Shape 11"/>
          <p:cNvSpPr/>
          <p:nvPr/>
        </p:nvSpPr>
        <p:spPr>
          <a:xfrm>
            <a:off x="4754880" y="1371600"/>
            <a:ext cx="1417320" cy="658368"/>
          </a:xfrm>
          <a:prstGeom prst="rect">
            <a:avLst/>
          </a:prstGeom>
          <a:solidFill>
            <a:srgbClr val="1A2E5A"/>
          </a:solidFill>
          <a:ln w="12700">
            <a:solidFill>
              <a:srgbClr val="1A2E5A"/>
            </a:solidFill>
            <a:prstDash val="solid"/>
          </a:ln>
        </p:spPr>
        <p:txBody>
          <a:bodyPr/>
          <a:lstStyle/>
          <a:p>
            <a:endParaRPr lang="nl-NL"/>
          </a:p>
        </p:txBody>
      </p:sp>
      <p:sp>
        <p:nvSpPr>
          <p:cNvPr id="14" name="Text 12"/>
          <p:cNvSpPr/>
          <p:nvPr/>
        </p:nvSpPr>
        <p:spPr>
          <a:xfrm>
            <a:off x="4754880" y="1426464"/>
            <a:ext cx="1417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CNPU-QNPU</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Node 1</a:t>
            </a:r>
            <a:endParaRPr lang="en-US" sz="1000" dirty="0"/>
          </a:p>
        </p:txBody>
      </p:sp>
      <p:sp>
        <p:nvSpPr>
          <p:cNvPr id="15" name="Text 13"/>
          <p:cNvSpPr/>
          <p:nvPr/>
        </p:nvSpPr>
        <p:spPr>
          <a:xfrm>
            <a:off x="4754880" y="1792224"/>
            <a:ext cx="1417320" cy="182880"/>
          </a:xfrm>
          <a:prstGeom prst="rect">
            <a:avLst/>
          </a:prstGeom>
          <a:noFill/>
          <a:ln/>
        </p:spPr>
        <p:txBody>
          <a:bodyPr wrap="square" lIns="0" tIns="0" rIns="0" bIns="0" rtlCol="0" anchor="ctr"/>
          <a:lstStyle/>
          <a:p>
            <a:pPr marL="0" indent="0" algn="ctr">
              <a:buNone/>
            </a:pPr>
            <a:r>
              <a:rPr lang="en-US" sz="900" dirty="0">
                <a:solidFill>
                  <a:srgbClr val="9DB8E0"/>
                </a:solidFill>
                <a:latin typeface="Calibri" pitchFamily="34" charset="0"/>
                <a:ea typeface="Calibri" pitchFamily="34" charset="-122"/>
                <a:cs typeface="Calibri" pitchFamily="34" charset="-120"/>
              </a:rPr>
              <a:t>QNodeOS</a:t>
            </a:r>
            <a:endParaRPr lang="en-US" sz="900" dirty="0"/>
          </a:p>
        </p:txBody>
      </p:sp>
      <p:sp>
        <p:nvSpPr>
          <p:cNvPr id="16" name="Shape 14"/>
          <p:cNvSpPr/>
          <p:nvPr/>
        </p:nvSpPr>
        <p:spPr>
          <a:xfrm>
            <a:off x="6190488" y="1700784"/>
            <a:ext cx="347472" cy="0"/>
          </a:xfrm>
          <a:prstGeom prst="line">
            <a:avLst/>
          </a:prstGeom>
          <a:noFill/>
          <a:ln w="19050">
            <a:solidFill>
              <a:srgbClr val="2E5FAD"/>
            </a:solidFill>
            <a:prstDash val="solid"/>
          </a:ln>
        </p:spPr>
        <p:txBody>
          <a:bodyPr/>
          <a:lstStyle/>
          <a:p>
            <a:endParaRPr lang="nl-NL"/>
          </a:p>
        </p:txBody>
      </p:sp>
      <p:sp>
        <p:nvSpPr>
          <p:cNvPr id="17" name="Shape 15"/>
          <p:cNvSpPr/>
          <p:nvPr/>
        </p:nvSpPr>
        <p:spPr>
          <a:xfrm>
            <a:off x="6556248" y="1335024"/>
            <a:ext cx="749808" cy="749808"/>
          </a:xfrm>
          <a:prstGeom prst="ellipse">
            <a:avLst/>
          </a:prstGeom>
          <a:solidFill>
            <a:srgbClr val="F5C518"/>
          </a:solidFill>
          <a:ln w="12700">
            <a:solidFill>
              <a:srgbClr val="F5C518"/>
            </a:solidFill>
            <a:prstDash val="solid"/>
          </a:ln>
        </p:spPr>
        <p:txBody>
          <a:bodyPr/>
          <a:lstStyle/>
          <a:p>
            <a:endParaRPr lang="nl-NL"/>
          </a:p>
        </p:txBody>
      </p:sp>
      <p:sp>
        <p:nvSpPr>
          <p:cNvPr id="18" name="Text 16"/>
          <p:cNvSpPr/>
          <p:nvPr/>
        </p:nvSpPr>
        <p:spPr>
          <a:xfrm>
            <a:off x="6556248" y="1435608"/>
            <a:ext cx="749808" cy="548640"/>
          </a:xfrm>
          <a:prstGeom prst="rect">
            <a:avLst/>
          </a:prstGeom>
          <a:noFill/>
          <a:ln/>
        </p:spPr>
        <p:txBody>
          <a:bodyPr wrap="square" lIns="0" tIns="0" rIns="0" bIns="0" rtlCol="0" anchor="ctr"/>
          <a:lstStyle/>
          <a:p>
            <a:pPr marL="0" indent="0" algn="ctr">
              <a:buNone/>
            </a:pPr>
            <a:r>
              <a:rPr lang="en-US" sz="1000" b="1" dirty="0">
                <a:solidFill>
                  <a:srgbClr val="1A2E5A"/>
                </a:solidFill>
                <a:latin typeface="Calibri" pitchFamily="34" charset="0"/>
                <a:ea typeface="Calibri" pitchFamily="34" charset="-122"/>
                <a:cs typeface="Calibri" pitchFamily="34" charset="-120"/>
              </a:rPr>
              <a:t>QI</a:t>
            </a:r>
            <a:endParaRPr lang="en-US" sz="1000" dirty="0"/>
          </a:p>
          <a:p>
            <a:pPr marL="0" indent="0" algn="ctr">
              <a:buNone/>
            </a:pPr>
            <a:r>
              <a:rPr lang="en-US" sz="1000" b="1" dirty="0">
                <a:solidFill>
                  <a:srgbClr val="1A2E5A"/>
                </a:solidFill>
                <a:latin typeface="Calibri" pitchFamily="34" charset="0"/>
                <a:ea typeface="Calibri" pitchFamily="34" charset="-122"/>
                <a:cs typeface="Calibri" pitchFamily="34" charset="-120"/>
              </a:rPr>
              <a:t>Lab</a:t>
            </a:r>
            <a:endParaRPr lang="en-US" sz="1000" dirty="0"/>
          </a:p>
        </p:txBody>
      </p:sp>
      <p:sp>
        <p:nvSpPr>
          <p:cNvPr id="19" name="Shape 17"/>
          <p:cNvSpPr/>
          <p:nvPr/>
        </p:nvSpPr>
        <p:spPr>
          <a:xfrm>
            <a:off x="7324344" y="1700784"/>
            <a:ext cx="347472" cy="0"/>
          </a:xfrm>
          <a:prstGeom prst="line">
            <a:avLst/>
          </a:prstGeom>
          <a:noFill/>
          <a:ln w="19050">
            <a:solidFill>
              <a:srgbClr val="2E5FAD"/>
            </a:solidFill>
            <a:prstDash val="solid"/>
          </a:ln>
        </p:spPr>
        <p:txBody>
          <a:bodyPr/>
          <a:lstStyle/>
          <a:p>
            <a:endParaRPr lang="nl-NL"/>
          </a:p>
        </p:txBody>
      </p:sp>
      <p:sp>
        <p:nvSpPr>
          <p:cNvPr id="20" name="Shape 18"/>
          <p:cNvSpPr/>
          <p:nvPr/>
        </p:nvSpPr>
        <p:spPr>
          <a:xfrm>
            <a:off x="7690104" y="1371600"/>
            <a:ext cx="1097280" cy="658368"/>
          </a:xfrm>
          <a:prstGeom prst="rect">
            <a:avLst/>
          </a:prstGeom>
          <a:solidFill>
            <a:srgbClr val="1A2E5A"/>
          </a:solidFill>
          <a:ln w="12700">
            <a:solidFill>
              <a:srgbClr val="1A2E5A"/>
            </a:solidFill>
            <a:prstDash val="solid"/>
          </a:ln>
        </p:spPr>
        <p:txBody>
          <a:bodyPr/>
          <a:lstStyle/>
          <a:p>
            <a:endParaRPr lang="nl-NL"/>
          </a:p>
        </p:txBody>
      </p:sp>
      <p:sp>
        <p:nvSpPr>
          <p:cNvPr id="21" name="Text 19"/>
          <p:cNvSpPr/>
          <p:nvPr/>
        </p:nvSpPr>
        <p:spPr>
          <a:xfrm>
            <a:off x="7690104" y="1426464"/>
            <a:ext cx="10972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CNPU-QNPU</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Node 2</a:t>
            </a:r>
            <a:endParaRPr lang="en-US" sz="1000" dirty="0"/>
          </a:p>
        </p:txBody>
      </p:sp>
      <p:sp>
        <p:nvSpPr>
          <p:cNvPr id="22" name="Text 20"/>
          <p:cNvSpPr/>
          <p:nvPr/>
        </p:nvSpPr>
        <p:spPr>
          <a:xfrm>
            <a:off x="7690104" y="1792224"/>
            <a:ext cx="1097280" cy="182880"/>
          </a:xfrm>
          <a:prstGeom prst="rect">
            <a:avLst/>
          </a:prstGeom>
          <a:noFill/>
          <a:ln/>
        </p:spPr>
        <p:txBody>
          <a:bodyPr wrap="square" lIns="0" tIns="0" rIns="0" bIns="0" rtlCol="0" anchor="ctr"/>
          <a:lstStyle/>
          <a:p>
            <a:pPr marL="0" indent="0" algn="ctr">
              <a:buNone/>
            </a:pPr>
            <a:r>
              <a:rPr lang="en-US" sz="900" dirty="0">
                <a:solidFill>
                  <a:srgbClr val="9DB8E0"/>
                </a:solidFill>
                <a:latin typeface="Calibri" pitchFamily="34" charset="0"/>
                <a:ea typeface="Calibri" pitchFamily="34" charset="-122"/>
                <a:cs typeface="Calibri" pitchFamily="34" charset="-120"/>
              </a:rPr>
              <a:t>QNodeOS</a:t>
            </a:r>
            <a:endParaRPr lang="en-US" sz="900" dirty="0"/>
          </a:p>
        </p:txBody>
      </p:sp>
      <p:sp>
        <p:nvSpPr>
          <p:cNvPr id="23" name="Text 21"/>
          <p:cNvSpPr/>
          <p:nvPr/>
        </p:nvSpPr>
        <p:spPr>
          <a:xfrm>
            <a:off x="6062472" y="2084832"/>
            <a:ext cx="1737360" cy="201168"/>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SPI</a:t>
            </a:r>
          </a:p>
        </p:txBody>
      </p:sp>
      <p:sp>
        <p:nvSpPr>
          <p:cNvPr id="24" name="Shape 22"/>
          <p:cNvSpPr/>
          <p:nvPr/>
        </p:nvSpPr>
        <p:spPr>
          <a:xfrm>
            <a:off x="4754880" y="2377440"/>
            <a:ext cx="4069080" cy="658368"/>
          </a:xfrm>
          <a:prstGeom prst="rect">
            <a:avLst/>
          </a:prstGeom>
          <a:solidFill>
            <a:srgbClr val="253D78"/>
          </a:solidFill>
          <a:ln w="12700">
            <a:solidFill>
              <a:srgbClr val="253D78"/>
            </a:solidFill>
            <a:prstDash val="solid"/>
          </a:ln>
        </p:spPr>
        <p:txBody>
          <a:bodyPr/>
          <a:lstStyle/>
          <a:p>
            <a:endParaRPr lang="nl-NL"/>
          </a:p>
        </p:txBody>
      </p:sp>
      <p:sp>
        <p:nvSpPr>
          <p:cNvPr id="25" name="Shape 23"/>
          <p:cNvSpPr/>
          <p:nvPr/>
        </p:nvSpPr>
        <p:spPr>
          <a:xfrm>
            <a:off x="4754880" y="2377440"/>
            <a:ext cx="45720" cy="658368"/>
          </a:xfrm>
          <a:prstGeom prst="rect">
            <a:avLst/>
          </a:prstGeom>
          <a:solidFill>
            <a:srgbClr val="F5C518"/>
          </a:solidFill>
          <a:ln w="12700">
            <a:solidFill>
              <a:srgbClr val="F5C518"/>
            </a:solidFill>
            <a:prstDash val="solid"/>
          </a:ln>
        </p:spPr>
        <p:txBody>
          <a:bodyPr/>
          <a:lstStyle/>
          <a:p>
            <a:endParaRPr lang="nl-NL"/>
          </a:p>
        </p:txBody>
      </p:sp>
      <p:sp>
        <p:nvSpPr>
          <p:cNvPr id="26" name="Text 24"/>
          <p:cNvSpPr/>
          <p:nvPr/>
        </p:nvSpPr>
        <p:spPr>
          <a:xfrm>
            <a:off x="4892040" y="2441448"/>
            <a:ext cx="3822192" cy="548640"/>
          </a:xfrm>
          <a:prstGeom prst="rect">
            <a:avLst/>
          </a:prstGeom>
          <a:noFill/>
          <a:ln/>
        </p:spPr>
        <p:txBody>
          <a:bodyPr wrap="square" rtlCol="0" anchor="ctr"/>
          <a:lstStyle/>
          <a:p>
            <a:pPr marL="0" indent="0">
              <a:buNone/>
            </a:pPr>
            <a:r>
              <a:rPr lang="en-US" sz="1000" dirty="0">
                <a:solidFill>
                  <a:srgbClr val="C8D8F0"/>
                </a:solidFill>
                <a:latin typeface="Calibri" pitchFamily="34" charset="0"/>
                <a:ea typeface="Calibri" pitchFamily="34" charset="-122"/>
                <a:cs typeface="Calibri" pitchFamily="34" charset="-120"/>
              </a:rPr>
              <a:t>The QI Lab domain hosts a Hardware SPI Manager and Simulation Platform, bridging all nodes via a single high-speed connection.</a:t>
            </a:r>
            <a:endParaRPr lang="en-US" sz="1000" dirty="0"/>
          </a:p>
        </p:txBody>
      </p:sp>
      <p:sp>
        <p:nvSpPr>
          <p:cNvPr id="27" name="Shape 25"/>
          <p:cNvSpPr/>
          <p:nvPr/>
        </p:nvSpPr>
        <p:spPr>
          <a:xfrm>
            <a:off x="4754880" y="3154680"/>
            <a:ext cx="4069080" cy="1417320"/>
          </a:xfrm>
          <a:prstGeom prst="rect">
            <a:avLst/>
          </a:prstGeom>
          <a:solidFill>
            <a:srgbClr val="F0F5FC"/>
          </a:solidFill>
          <a:ln w="12700">
            <a:solidFill>
              <a:srgbClr val="C8D9F0"/>
            </a:solidFill>
            <a:prstDash val="solid"/>
          </a:ln>
        </p:spPr>
        <p:txBody>
          <a:bodyPr/>
          <a:lstStyle/>
          <a:p>
            <a:endParaRPr lang="nl-NL"/>
          </a:p>
        </p:txBody>
      </p:sp>
      <p:sp>
        <p:nvSpPr>
          <p:cNvPr id="28" name="Shape 26"/>
          <p:cNvSpPr/>
          <p:nvPr/>
        </p:nvSpPr>
        <p:spPr>
          <a:xfrm>
            <a:off x="4754880" y="3154680"/>
            <a:ext cx="45720" cy="1417320"/>
          </a:xfrm>
          <a:prstGeom prst="rect">
            <a:avLst/>
          </a:prstGeom>
          <a:solidFill>
            <a:srgbClr val="2E5FAD"/>
          </a:solidFill>
          <a:ln w="12700">
            <a:solidFill>
              <a:srgbClr val="2E5FAD"/>
            </a:solidFill>
            <a:prstDash val="solid"/>
          </a:ln>
        </p:spPr>
        <p:txBody>
          <a:bodyPr/>
          <a:lstStyle/>
          <a:p>
            <a:endParaRPr lang="nl-NL"/>
          </a:p>
        </p:txBody>
      </p:sp>
      <p:sp>
        <p:nvSpPr>
          <p:cNvPr id="29" name="Text 27"/>
          <p:cNvSpPr/>
          <p:nvPr/>
        </p:nvSpPr>
        <p:spPr>
          <a:xfrm>
            <a:off x="4892040" y="3246120"/>
            <a:ext cx="3794760" cy="256032"/>
          </a:xfrm>
          <a:prstGeom prst="rect">
            <a:avLst/>
          </a:prstGeom>
          <a:noFill/>
          <a:ln/>
        </p:spPr>
        <p:txBody>
          <a:bodyPr wrap="square" lIns="0" tIns="0" rIns="0" bIns="0"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Scalability</a:t>
            </a:r>
            <a:endParaRPr lang="en-US" sz="1100" dirty="0"/>
          </a:p>
        </p:txBody>
      </p:sp>
      <p:sp>
        <p:nvSpPr>
          <p:cNvPr id="30" name="Text 28"/>
          <p:cNvSpPr/>
          <p:nvPr/>
        </p:nvSpPr>
        <p:spPr>
          <a:xfrm>
            <a:off x="4892040" y="3547872"/>
            <a:ext cx="3794760" cy="868680"/>
          </a:xfrm>
          <a:prstGeom prst="rect">
            <a:avLst/>
          </a:prstGeom>
          <a:noFill/>
          <a:ln/>
        </p:spPr>
        <p:txBody>
          <a:bodyPr wrap="square" rtlCol="0" anchor="ctr"/>
          <a:lstStyle/>
          <a:p>
            <a:pPr marL="342900" indent="-342900">
              <a:spcAft>
                <a:spcPts val="400"/>
              </a:spcAft>
              <a:buSzPct val="100000"/>
              <a:buChar char="•"/>
            </a:pPr>
            <a:r>
              <a:rPr lang="en-US" sz="1100" dirty="0">
                <a:solidFill>
                  <a:srgbClr val="374151"/>
                </a:solidFill>
                <a:latin typeface="Calibri" pitchFamily="34" charset="0"/>
                <a:ea typeface="Calibri" pitchFamily="34" charset="-122"/>
                <a:cs typeface="Calibri" pitchFamily="34" charset="-120"/>
              </a:rPr>
              <a:t>Short-term goal: maximum 4 nodes</a:t>
            </a:r>
            <a:endParaRPr lang="en-US" sz="1100" dirty="0"/>
          </a:p>
          <a:p>
            <a:pPr marL="342900" indent="-342900">
              <a:spcAft>
                <a:spcPts val="400"/>
              </a:spcAft>
              <a:buSzPct val="100000"/>
              <a:buChar char="•"/>
            </a:pPr>
            <a:r>
              <a:rPr lang="en-US" sz="1100" dirty="0">
                <a:solidFill>
                  <a:srgbClr val="374151"/>
                </a:solidFill>
                <a:latin typeface="Calibri" pitchFamily="34" charset="0"/>
                <a:ea typeface="Calibri" pitchFamily="34" charset="-122"/>
                <a:cs typeface="Calibri" pitchFamily="34" charset="-120"/>
              </a:rPr>
              <a:t>Mid/Long-term goal: support 8 nodes in the same location</a:t>
            </a:r>
            <a:endParaRPr lang="en-US" sz="1100" dirty="0"/>
          </a:p>
        </p:txBody>
      </p:sp>
      <p:sp>
        <p:nvSpPr>
          <p:cNvPr id="31" name="Shape 29"/>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32" name="Text 30"/>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ea typeface="Calibri" pitchFamily="34" charset="-122"/>
                <a:cs typeface="Calibri" pitchFamily="34" charset="-120"/>
              </a:rPr>
              <a:t>Internal use only</a:t>
            </a:r>
            <a:endParaRPr lang="en-US" sz="800" dirty="0"/>
          </a:p>
        </p:txBody>
      </p:sp>
      <p:sp>
        <p:nvSpPr>
          <p:cNvPr id="34" name="Text_Footer_Right">
            <a:extLst>
              <a:ext uri="{FF2B5EF4-FFF2-40B4-BE49-F238E27FC236}">
                <a16:creationId xmlns:a16="http://schemas.microsoft.com/office/drawing/2014/main" id="{500984D5-8F27-0215-C01D-92D39A3E0D42}"/>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01 / 32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 1"/>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 2"/>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 3"/>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General Use Cases</a:t>
            </a:r>
            <a:endParaRPr lang="en-US" sz="2200" dirty="0"/>
          </a:p>
        </p:txBody>
      </p:sp>
      <p:sp>
        <p:nvSpPr>
          <p:cNvPr id="6" name="Text 4"/>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ea typeface="Calibri" pitchFamily="34" charset="-122"/>
                <a:cs typeface="Calibri" pitchFamily="34" charset="-120"/>
              </a:rPr>
              <a:t>What can QI Lab be used to design, evaluate, and validate?</a:t>
            </a:r>
            <a:endParaRPr lang="en-US" sz="1100" dirty="0"/>
          </a:p>
        </p:txBody>
      </p:sp>
      <p:sp>
        <p:nvSpPr>
          <p:cNvPr id="7" name="Shape 5"/>
          <p:cNvSpPr/>
          <p:nvPr/>
        </p:nvSpPr>
        <p:spPr>
          <a:xfrm>
            <a:off x="320040" y="1170432"/>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8" name="Shape 6"/>
          <p:cNvSpPr/>
          <p:nvPr/>
        </p:nvSpPr>
        <p:spPr>
          <a:xfrm>
            <a:off x="320040" y="1170432"/>
            <a:ext cx="4114800" cy="36576"/>
          </a:xfrm>
          <a:prstGeom prst="rect">
            <a:avLst/>
          </a:prstGeom>
          <a:solidFill>
            <a:srgbClr val="F5C518"/>
          </a:solidFill>
          <a:ln w="12700">
            <a:solidFill>
              <a:srgbClr val="F5C518"/>
            </a:solidFill>
            <a:prstDash val="solid"/>
          </a:ln>
        </p:spPr>
        <p:txBody>
          <a:bodyPr/>
          <a:lstStyle/>
          <a:p>
            <a:endParaRPr lang="nl-NL"/>
          </a:p>
        </p:txBody>
      </p:sp>
      <p:sp>
        <p:nvSpPr>
          <p:cNvPr id="9" name="Text 7"/>
          <p:cNvSpPr/>
          <p:nvPr/>
        </p:nvSpPr>
        <p:spPr>
          <a:xfrm>
            <a:off x="457200" y="1261872"/>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USE CASE 01</a:t>
            </a:r>
            <a:endParaRPr lang="en-US" sz="750" dirty="0"/>
          </a:p>
        </p:txBody>
      </p:sp>
      <p:sp>
        <p:nvSpPr>
          <p:cNvPr id="10" name="Text 8"/>
          <p:cNvSpPr/>
          <p:nvPr/>
        </p:nvSpPr>
        <p:spPr>
          <a:xfrm>
            <a:off x="457200" y="1472184"/>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Control Plane Algorithms</a:t>
            </a:r>
            <a:endParaRPr lang="en-US" sz="1300" dirty="0"/>
          </a:p>
        </p:txBody>
      </p:sp>
      <p:sp>
        <p:nvSpPr>
          <p:cNvPr id="11" name="Text 9"/>
          <p:cNvSpPr/>
          <p:nvPr/>
        </p:nvSpPr>
        <p:spPr>
          <a:xfrm>
            <a:off x="457200" y="1792224"/>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Scheduling, routing, and SDN architecture elements evaluated on real-world implementations on </a:t>
            </a:r>
            <a:r>
              <a:rPr lang="en-US" sz="1100" dirty="0" err="1">
                <a:solidFill>
                  <a:srgbClr val="CBD5E1"/>
                </a:solidFill>
                <a:latin typeface="Calibri" pitchFamily="34" charset="0"/>
                <a:ea typeface="Calibri" pitchFamily="34" charset="-122"/>
                <a:cs typeface="Calibri" pitchFamily="34" charset="-120"/>
              </a:rPr>
              <a:t>QiLab</a:t>
            </a:r>
            <a:r>
              <a:rPr lang="en-US" sz="1100" dirty="0">
                <a:solidFill>
                  <a:srgbClr val="CBD5E1"/>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4709160" y="1170432"/>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3" name="Shape 11"/>
          <p:cNvSpPr/>
          <p:nvPr/>
        </p:nvSpPr>
        <p:spPr>
          <a:xfrm>
            <a:off x="4709160" y="1170432"/>
            <a:ext cx="4114800" cy="36576"/>
          </a:xfrm>
          <a:prstGeom prst="rect">
            <a:avLst/>
          </a:prstGeom>
          <a:solidFill>
            <a:srgbClr val="F5C518"/>
          </a:solidFill>
          <a:ln w="12700">
            <a:solidFill>
              <a:srgbClr val="F5C518"/>
            </a:solidFill>
            <a:prstDash val="solid"/>
          </a:ln>
        </p:spPr>
        <p:txBody>
          <a:bodyPr/>
          <a:lstStyle/>
          <a:p>
            <a:endParaRPr lang="nl-NL"/>
          </a:p>
        </p:txBody>
      </p:sp>
      <p:sp>
        <p:nvSpPr>
          <p:cNvPr id="14" name="Text 12"/>
          <p:cNvSpPr/>
          <p:nvPr/>
        </p:nvSpPr>
        <p:spPr>
          <a:xfrm>
            <a:off x="4846320" y="1261872"/>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USE CASE 02</a:t>
            </a:r>
            <a:endParaRPr lang="en-US" sz="750" dirty="0"/>
          </a:p>
        </p:txBody>
      </p:sp>
      <p:sp>
        <p:nvSpPr>
          <p:cNvPr id="15" name="Text 13"/>
          <p:cNvSpPr/>
          <p:nvPr/>
        </p:nvSpPr>
        <p:spPr>
          <a:xfrm>
            <a:off x="4846320" y="1472184"/>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Network OS Concepts</a:t>
            </a:r>
            <a:endParaRPr lang="en-US" sz="1300" dirty="0"/>
          </a:p>
        </p:txBody>
      </p:sp>
      <p:sp>
        <p:nvSpPr>
          <p:cNvPr id="16" name="Text 14"/>
          <p:cNvSpPr/>
          <p:nvPr/>
        </p:nvSpPr>
        <p:spPr>
          <a:xfrm>
            <a:off x="4846320" y="1792224"/>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Network operating system concepts and implementations, such as local scheduling algorithms running on live hardware.</a:t>
            </a:r>
            <a:endParaRPr lang="en-US" sz="1100" dirty="0"/>
          </a:p>
        </p:txBody>
      </p:sp>
      <p:sp>
        <p:nvSpPr>
          <p:cNvPr id="17" name="Shape 15"/>
          <p:cNvSpPr/>
          <p:nvPr/>
        </p:nvSpPr>
        <p:spPr>
          <a:xfrm>
            <a:off x="320040" y="2834640"/>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8" name="Shape 16"/>
          <p:cNvSpPr/>
          <p:nvPr/>
        </p:nvSpPr>
        <p:spPr>
          <a:xfrm>
            <a:off x="320040" y="2834640"/>
            <a:ext cx="4114800" cy="36576"/>
          </a:xfrm>
          <a:prstGeom prst="rect">
            <a:avLst/>
          </a:prstGeom>
          <a:solidFill>
            <a:srgbClr val="F5C518"/>
          </a:solidFill>
          <a:ln w="12700">
            <a:solidFill>
              <a:srgbClr val="F5C518"/>
            </a:solidFill>
            <a:prstDash val="solid"/>
          </a:ln>
        </p:spPr>
        <p:txBody>
          <a:bodyPr/>
          <a:lstStyle/>
          <a:p>
            <a:endParaRPr lang="nl-NL"/>
          </a:p>
        </p:txBody>
      </p:sp>
      <p:sp>
        <p:nvSpPr>
          <p:cNvPr id="19" name="Text 17"/>
          <p:cNvSpPr/>
          <p:nvPr/>
        </p:nvSpPr>
        <p:spPr>
          <a:xfrm>
            <a:off x="457200" y="2926080"/>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USE CASE 03</a:t>
            </a:r>
            <a:endParaRPr lang="en-US" sz="750" dirty="0"/>
          </a:p>
        </p:txBody>
      </p:sp>
      <p:sp>
        <p:nvSpPr>
          <p:cNvPr id="20" name="Text 18"/>
          <p:cNvSpPr/>
          <p:nvPr/>
        </p:nvSpPr>
        <p:spPr>
          <a:xfrm>
            <a:off x="457200" y="3136392"/>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Programming &amp; Compilers</a:t>
            </a:r>
            <a:endParaRPr lang="en-US" sz="1300" dirty="0"/>
          </a:p>
        </p:txBody>
      </p:sp>
      <p:sp>
        <p:nvSpPr>
          <p:cNvPr id="21" name="Text 19"/>
          <p:cNvSpPr/>
          <p:nvPr/>
        </p:nvSpPr>
        <p:spPr>
          <a:xfrm>
            <a:off x="457200" y="3456432"/>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Design, evaluation, and validation of quantum network programming models and compiler concepts.</a:t>
            </a:r>
            <a:endParaRPr lang="en-US" sz="1100" dirty="0"/>
          </a:p>
        </p:txBody>
      </p:sp>
      <p:sp>
        <p:nvSpPr>
          <p:cNvPr id="22" name="Shape 20"/>
          <p:cNvSpPr/>
          <p:nvPr/>
        </p:nvSpPr>
        <p:spPr>
          <a:xfrm>
            <a:off x="4709160" y="2834640"/>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23" name="Shape 21"/>
          <p:cNvSpPr/>
          <p:nvPr/>
        </p:nvSpPr>
        <p:spPr>
          <a:xfrm>
            <a:off x="4709160" y="2834640"/>
            <a:ext cx="4114800" cy="36576"/>
          </a:xfrm>
          <a:prstGeom prst="rect">
            <a:avLst/>
          </a:prstGeom>
          <a:solidFill>
            <a:srgbClr val="F5C518"/>
          </a:solidFill>
          <a:ln w="12700">
            <a:solidFill>
              <a:srgbClr val="F5C518"/>
            </a:solidFill>
            <a:prstDash val="solid"/>
          </a:ln>
        </p:spPr>
        <p:txBody>
          <a:bodyPr/>
          <a:lstStyle/>
          <a:p>
            <a:endParaRPr lang="nl-NL"/>
          </a:p>
        </p:txBody>
      </p:sp>
      <p:sp>
        <p:nvSpPr>
          <p:cNvPr id="24" name="Text 22"/>
          <p:cNvSpPr/>
          <p:nvPr/>
        </p:nvSpPr>
        <p:spPr>
          <a:xfrm>
            <a:off x="4846320" y="2926080"/>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USE CASE 04</a:t>
            </a:r>
            <a:endParaRPr lang="en-US" sz="750" dirty="0"/>
          </a:p>
        </p:txBody>
      </p:sp>
      <p:sp>
        <p:nvSpPr>
          <p:cNvPr id="25" name="Text 23"/>
          <p:cNvSpPr/>
          <p:nvPr/>
        </p:nvSpPr>
        <p:spPr>
          <a:xfrm>
            <a:off x="4846320" y="3136392"/>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Tooling &amp; Benchmarks</a:t>
            </a:r>
            <a:endParaRPr lang="en-US" sz="1300" dirty="0"/>
          </a:p>
        </p:txBody>
      </p:sp>
      <p:sp>
        <p:nvSpPr>
          <p:cNvPr id="26" name="Text 24"/>
          <p:cNvSpPr/>
          <p:nvPr/>
        </p:nvSpPr>
        <p:spPr>
          <a:xfrm>
            <a:off x="4846320" y="3456432"/>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Evaluation of tools such as the quantum network benchmark suite in a realistic multi-node setting.</a:t>
            </a:r>
            <a:endParaRPr lang="en-US" sz="1100" dirty="0"/>
          </a:p>
        </p:txBody>
      </p:sp>
      <p:sp>
        <p:nvSpPr>
          <p:cNvPr id="27" name="Shape 25"/>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28" name="Text 26"/>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ea typeface="Calibri" pitchFamily="34" charset="-122"/>
                <a:cs typeface="Calibri" pitchFamily="34" charset="-120"/>
              </a:rPr>
              <a:t>Internal use only</a:t>
            </a:r>
            <a:endParaRPr lang="en-US" sz="800" dirty="0"/>
          </a:p>
        </p:txBody>
      </p:sp>
      <p:sp>
        <p:nvSpPr>
          <p:cNvPr id="30" name="Text_Footer_Right">
            <a:extLst>
              <a:ext uri="{FF2B5EF4-FFF2-40B4-BE49-F238E27FC236}">
                <a16:creationId xmlns:a16="http://schemas.microsoft.com/office/drawing/2014/main" id="{DBBB58F1-1C10-BF48-E2A2-67F34C0F63A7}"/>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03 / 32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 1"/>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 2"/>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 3"/>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Hardware Platform</a:t>
            </a:r>
            <a:endParaRPr lang="en-US" sz="2200" dirty="0"/>
          </a:p>
        </p:txBody>
      </p:sp>
      <p:sp>
        <p:nvSpPr>
          <p:cNvPr id="6" name="Text 4"/>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ea typeface="Calibri" pitchFamily="34" charset="-122"/>
                <a:cs typeface="Calibri" pitchFamily="34" charset="-120"/>
              </a:rPr>
              <a:t>Raspberry Pi 5 with Linux RT + Raspberry Pi Pico</a:t>
            </a:r>
            <a:endParaRPr lang="en-US" sz="1100" dirty="0"/>
          </a:p>
        </p:txBody>
      </p:sp>
      <p:sp>
        <p:nvSpPr>
          <p:cNvPr id="7" name="Shape 5"/>
          <p:cNvSpPr/>
          <p:nvPr/>
        </p:nvSpPr>
        <p:spPr>
          <a:xfrm>
            <a:off x="320040" y="1115568"/>
            <a:ext cx="3473484" cy="3623248"/>
          </a:xfrm>
          <a:prstGeom prst="rect">
            <a:avLst/>
          </a:prstGeom>
          <a:solidFill>
            <a:srgbClr val="FFFBEA"/>
          </a:solidFill>
          <a:ln w="19050">
            <a:solidFill>
              <a:srgbClr val="E8D48A"/>
            </a:solidFill>
            <a:prstDash val="solid"/>
          </a:ln>
        </p:spPr>
        <p:txBody>
          <a:bodyPr/>
          <a:lstStyle/>
          <a:p>
            <a:endParaRPr lang="nl-NL"/>
          </a:p>
        </p:txBody>
      </p:sp>
      <p:sp>
        <p:nvSpPr>
          <p:cNvPr id="8" name="Shape 6"/>
          <p:cNvSpPr/>
          <p:nvPr/>
        </p:nvSpPr>
        <p:spPr>
          <a:xfrm>
            <a:off x="320040" y="1115568"/>
            <a:ext cx="45720" cy="3566160"/>
          </a:xfrm>
          <a:prstGeom prst="rect">
            <a:avLst/>
          </a:prstGeom>
          <a:solidFill>
            <a:srgbClr val="F5C518"/>
          </a:solidFill>
          <a:ln w="12700">
            <a:solidFill>
              <a:srgbClr val="F5C518"/>
            </a:solidFill>
            <a:prstDash val="solid"/>
          </a:ln>
        </p:spPr>
        <p:txBody>
          <a:bodyPr/>
          <a:lstStyle/>
          <a:p>
            <a:endParaRPr lang="nl-NL"/>
          </a:p>
        </p:txBody>
      </p:sp>
      <p:sp>
        <p:nvSpPr>
          <p:cNvPr id="9" name="Text 7"/>
          <p:cNvSpPr/>
          <p:nvPr/>
        </p:nvSpPr>
        <p:spPr>
          <a:xfrm>
            <a:off x="457200" y="1207008"/>
            <a:ext cx="388620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HARDWARE — CHEAP &amp; READILY AVAILABLE SOLUTION</a:t>
            </a:r>
            <a:endParaRPr lang="en-US" sz="800" dirty="0"/>
          </a:p>
        </p:txBody>
      </p:sp>
      <p:sp>
        <p:nvSpPr>
          <p:cNvPr id="10" name="Text 8"/>
          <p:cNvSpPr/>
          <p:nvPr/>
        </p:nvSpPr>
        <p:spPr>
          <a:xfrm>
            <a:off x="457200" y="1426464"/>
            <a:ext cx="3840480" cy="347472"/>
          </a:xfrm>
          <a:prstGeom prst="rect">
            <a:avLst/>
          </a:prstGeom>
          <a:noFill/>
          <a:ln/>
        </p:spPr>
        <p:txBody>
          <a:bodyPr wrap="square" lIns="0" tIns="0" rIns="0" bIns="0" rtlCol="0" anchor="ctr"/>
          <a:lstStyle/>
          <a:p>
            <a:pPr marL="0" indent="0">
              <a:buNone/>
            </a:pPr>
            <a:r>
              <a:rPr lang="en-US" sz="1500" b="1" dirty="0">
                <a:solidFill>
                  <a:srgbClr val="111827"/>
                </a:solidFill>
                <a:latin typeface="Calibri" pitchFamily="34" charset="0"/>
                <a:ea typeface="Calibri" pitchFamily="34" charset="-122"/>
                <a:cs typeface="Calibri" pitchFamily="34" charset="-120"/>
              </a:rPr>
              <a:t>Raspberry Pi 5 + Pico</a:t>
            </a:r>
            <a:endParaRPr lang="en-US" sz="1500" dirty="0"/>
          </a:p>
        </p:txBody>
      </p:sp>
      <p:sp>
        <p:nvSpPr>
          <p:cNvPr id="11" name="Text 9"/>
          <p:cNvSpPr/>
          <p:nvPr/>
        </p:nvSpPr>
        <p:spPr>
          <a:xfrm>
            <a:off x="457200" y="1847088"/>
            <a:ext cx="3157151" cy="2606040"/>
          </a:xfrm>
          <a:prstGeom prst="rect">
            <a:avLst/>
          </a:prstGeom>
          <a:noFill/>
          <a:ln/>
        </p:spPr>
        <p:txBody>
          <a:bodyPr wrap="square" rtlCol="0" anchor="ctr"/>
          <a:lstStyle/>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Debian with PREEMPT_RT real-time kernel</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SPI @ 20 MHz between Pi 5 and Pico co-processor</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Programmable Input-Output (PIO) engine on the Pico enables support for more nodes (up to 4 per Pico)</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Bare-bone application running on Pico</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Faster development and less maintenance overhead</a:t>
            </a:r>
            <a:endParaRPr lang="en-US" sz="1200" dirty="0"/>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Low cost and widely available hardware</a:t>
            </a:r>
            <a:endParaRPr lang="en-US" sz="1200" dirty="0"/>
          </a:p>
        </p:txBody>
      </p:sp>
      <p:sp>
        <p:nvSpPr>
          <p:cNvPr id="12" name="Text 10"/>
          <p:cNvSpPr/>
          <p:nvPr/>
        </p:nvSpPr>
        <p:spPr>
          <a:xfrm>
            <a:off x="3977640" y="1155851"/>
            <a:ext cx="420624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SYSTEM ARCHITECTURE</a:t>
            </a:r>
            <a:endParaRPr lang="en-US" sz="800" dirty="0"/>
          </a:p>
        </p:txBody>
      </p:sp>
      <p:sp>
        <p:nvSpPr>
          <p:cNvPr id="14" name="Shape 11"/>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15" name="Text 12"/>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ea typeface="Calibri" pitchFamily="34" charset="-122"/>
                <a:cs typeface="Calibri" pitchFamily="34" charset="-120"/>
              </a:rPr>
              <a:t>Internal use only</a:t>
            </a:r>
            <a:endParaRPr lang="en-US" sz="800" dirty="0"/>
          </a:p>
        </p:txBody>
      </p:sp>
      <p:sp>
        <p:nvSpPr>
          <p:cNvPr id="13" name="Text_Footer_Right">
            <a:extLst>
              <a:ext uri="{FF2B5EF4-FFF2-40B4-BE49-F238E27FC236}">
                <a16:creationId xmlns:a16="http://schemas.microsoft.com/office/drawing/2014/main" id="{CC396B89-4492-6D47-CA9F-6FA6BB45D0BF}"/>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02/ 32</a:t>
            </a:r>
          </a:p>
        </p:txBody>
      </p:sp>
      <p:pic>
        <p:nvPicPr>
          <p:cNvPr id="27" name="Picture 26">
            <a:extLst>
              <a:ext uri="{FF2B5EF4-FFF2-40B4-BE49-F238E27FC236}">
                <a16:creationId xmlns:a16="http://schemas.microsoft.com/office/drawing/2014/main" id="{00B79BDD-67F5-545D-A367-4D4D0205B183}"/>
              </a:ext>
            </a:extLst>
          </p:cNvPr>
          <p:cNvPicPr>
            <a:picLocks noChangeAspect="1"/>
          </p:cNvPicPr>
          <p:nvPr/>
        </p:nvPicPr>
        <p:blipFill>
          <a:blip r:embed="rId3"/>
          <a:stretch>
            <a:fillRect/>
          </a:stretch>
        </p:blipFill>
        <p:spPr>
          <a:xfrm>
            <a:off x="4245429" y="1419394"/>
            <a:ext cx="4159650" cy="34723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F5C518"/>
          </a:solidFill>
          <a:ln w="12700">
            <a:solidFill>
              <a:srgbClr val="F5C518"/>
            </a:solidFill>
            <a:prstDash val="solid"/>
          </a:ln>
        </p:spPr>
        <p:txBody>
          <a:bodyPr/>
          <a:lstStyle/>
          <a:p>
            <a:endParaRPr lang="nl-NL"/>
          </a:p>
        </p:txBody>
      </p:sp>
      <p:sp>
        <p:nvSpPr>
          <p:cNvPr id="3" name="Text 1"/>
          <p:cNvSpPr/>
          <p:nvPr/>
        </p:nvSpPr>
        <p:spPr>
          <a:xfrm>
            <a:off x="548640" y="1188720"/>
            <a:ext cx="2286000" cy="1280160"/>
          </a:xfrm>
          <a:prstGeom prst="rect">
            <a:avLst/>
          </a:prstGeom>
          <a:noFill/>
          <a:ln/>
        </p:spPr>
        <p:txBody>
          <a:bodyPr wrap="square" lIns="0" tIns="0" rIns="0" bIns="0" rtlCol="0" anchor="ctr"/>
          <a:lstStyle/>
          <a:p>
            <a:pPr marL="0" indent="0">
              <a:buNone/>
            </a:pPr>
            <a:r>
              <a:rPr lang="en-US" sz="8000" b="1" dirty="0">
                <a:solidFill>
                  <a:srgbClr val="253D78"/>
                </a:solidFill>
                <a:latin typeface="Calibri" pitchFamily="34" charset="0"/>
                <a:ea typeface="Calibri" pitchFamily="34" charset="-122"/>
                <a:cs typeface="Calibri" pitchFamily="34" charset="-120"/>
              </a:rPr>
              <a:t>02</a:t>
            </a:r>
            <a:endParaRPr lang="en-US" sz="8000" dirty="0"/>
          </a:p>
        </p:txBody>
      </p:sp>
      <p:sp>
        <p:nvSpPr>
          <p:cNvPr id="4" name="Text 2"/>
          <p:cNvSpPr/>
          <p:nvPr/>
        </p:nvSpPr>
        <p:spPr>
          <a:xfrm>
            <a:off x="548640" y="2377440"/>
            <a:ext cx="777240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Motivation</a:t>
            </a:r>
            <a:endParaRPr lang="en-US" sz="3200" dirty="0"/>
          </a:p>
        </p:txBody>
      </p:sp>
      <p:sp>
        <p:nvSpPr>
          <p:cNvPr id="5" name="Text 3"/>
          <p:cNvSpPr/>
          <p:nvPr/>
        </p:nvSpPr>
        <p:spPr>
          <a:xfrm>
            <a:off x="548640" y="3090672"/>
            <a:ext cx="6400800" cy="365760"/>
          </a:xfrm>
          <a:prstGeom prst="rect">
            <a:avLst/>
          </a:prstGeom>
          <a:noFill/>
          <a:ln/>
        </p:spPr>
        <p:txBody>
          <a:bodyPr wrap="square" lIns="0" tIns="0" rIns="0" bIns="0" rtlCol="0" anchor="ctr"/>
          <a:lstStyle/>
          <a:p>
            <a:pPr marL="0" indent="0">
              <a:buNone/>
            </a:pPr>
            <a:r>
              <a:rPr lang="en-US" sz="1300" dirty="0">
                <a:solidFill>
                  <a:srgbClr val="9DB8E0"/>
                </a:solidFill>
                <a:latin typeface="Calibri" pitchFamily="34" charset="0"/>
                <a:ea typeface="Calibri" pitchFamily="34" charset="-122"/>
                <a:cs typeface="Calibri" pitchFamily="34" charset="-120"/>
              </a:rPr>
              <a:t>Why do we need QI Lab?</a:t>
            </a:r>
            <a:endParaRPr lang="en-US" sz="1300" dirty="0"/>
          </a:p>
        </p:txBody>
      </p:sp>
      <p:sp>
        <p:nvSpPr>
          <p:cNvPr id="6" name="Shape 4"/>
          <p:cNvSpPr/>
          <p:nvPr/>
        </p:nvSpPr>
        <p:spPr>
          <a:xfrm>
            <a:off x="0" y="4892040"/>
            <a:ext cx="9144000" cy="251460"/>
          </a:xfrm>
          <a:prstGeom prst="rect">
            <a:avLst/>
          </a:prstGeom>
          <a:solidFill>
            <a:srgbClr val="0F1D3A"/>
          </a:solidFill>
          <a:ln w="12700">
            <a:solidFill>
              <a:srgbClr val="0F1D3A"/>
            </a:solidFill>
            <a:prstDash val="solid"/>
          </a:ln>
        </p:spPr>
        <p:txBody>
          <a:bodyPr/>
          <a:lstStyle/>
          <a:p>
            <a:endParaRPr lang="nl-NL"/>
          </a:p>
        </p:txBody>
      </p:sp>
      <p:sp>
        <p:nvSpPr>
          <p:cNvPr id="7" name="Text 5"/>
          <p:cNvSpPr/>
          <p:nvPr/>
        </p:nvSpPr>
        <p:spPr>
          <a:xfrm>
            <a:off x="365760" y="4901184"/>
            <a:ext cx="8229600" cy="201168"/>
          </a:xfrm>
          <a:prstGeom prst="rect">
            <a:avLst/>
          </a:prstGeom>
          <a:noFill/>
          <a:ln/>
        </p:spPr>
        <p:txBody>
          <a:bodyPr wrap="square" lIns="0" tIns="0" rIns="0" bIns="0" rtlCol="0" anchor="ctr"/>
          <a:lstStyle/>
          <a:p>
            <a:pPr marL="0" indent="0">
              <a:buNone/>
            </a:pPr>
            <a:r>
              <a:rPr lang="en-US" sz="800" i="1" dirty="0">
                <a:solidFill>
                  <a:srgbClr val="4A6A9A"/>
                </a:solidFill>
                <a:latin typeface="Calibri" pitchFamily="34" charset="0"/>
                <a:ea typeface="Calibri" pitchFamily="34" charset="-122"/>
                <a:cs typeface="Calibri" pitchFamily="34" charset="-120"/>
              </a:rPr>
              <a:t>Internal use only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 1"/>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 2"/>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 3"/>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QI Lab?</a:t>
            </a:r>
            <a:endParaRPr lang="en-US" sz="2200" dirty="0"/>
          </a:p>
        </p:txBody>
      </p:sp>
      <p:sp>
        <p:nvSpPr>
          <p:cNvPr id="6" name="Text 4"/>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ea typeface="Calibri" pitchFamily="34" charset="-122"/>
                <a:cs typeface="Calibri" pitchFamily="34" charset="-120"/>
              </a:rPr>
              <a:t>The limitations that motivated a hybrid hardware-in-the-loop approach</a:t>
            </a:r>
            <a:endParaRPr lang="en-US" sz="1100" dirty="0"/>
          </a:p>
        </p:txBody>
      </p:sp>
      <p:sp>
        <p:nvSpPr>
          <p:cNvPr id="7" name="Shape 5"/>
          <p:cNvSpPr/>
          <p:nvPr/>
        </p:nvSpPr>
        <p:spPr>
          <a:xfrm>
            <a:off x="320040" y="1170432"/>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8" name="Shape 6"/>
          <p:cNvSpPr/>
          <p:nvPr/>
        </p:nvSpPr>
        <p:spPr>
          <a:xfrm>
            <a:off x="320040" y="1170432"/>
            <a:ext cx="4114800" cy="36576"/>
          </a:xfrm>
          <a:prstGeom prst="rect">
            <a:avLst/>
          </a:prstGeom>
          <a:solidFill>
            <a:srgbClr val="F5C518"/>
          </a:solidFill>
          <a:ln w="12700">
            <a:solidFill>
              <a:srgbClr val="F5C518"/>
            </a:solidFill>
            <a:prstDash val="solid"/>
          </a:ln>
        </p:spPr>
        <p:txBody>
          <a:bodyPr/>
          <a:lstStyle/>
          <a:p>
            <a:endParaRPr lang="nl-NL"/>
          </a:p>
        </p:txBody>
      </p:sp>
      <p:sp>
        <p:nvSpPr>
          <p:cNvPr id="9" name="Text 7"/>
          <p:cNvSpPr/>
          <p:nvPr/>
        </p:nvSpPr>
        <p:spPr>
          <a:xfrm>
            <a:off x="457200" y="1261872"/>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CHALLENGE 01</a:t>
            </a:r>
            <a:endParaRPr lang="en-US" sz="750" dirty="0"/>
          </a:p>
        </p:txBody>
      </p:sp>
      <p:sp>
        <p:nvSpPr>
          <p:cNvPr id="10" name="Text 8"/>
          <p:cNvSpPr/>
          <p:nvPr/>
        </p:nvSpPr>
        <p:spPr>
          <a:xfrm>
            <a:off x="457200" y="1472184"/>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Simulation Is Not Enough</a:t>
            </a:r>
            <a:endParaRPr lang="en-US" sz="1300" dirty="0"/>
          </a:p>
        </p:txBody>
      </p:sp>
      <p:sp>
        <p:nvSpPr>
          <p:cNvPr id="11" name="Text 9"/>
          <p:cNvSpPr/>
          <p:nvPr/>
        </p:nvSpPr>
        <p:spPr>
          <a:xfrm>
            <a:off x="457200" y="1792224"/>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Pure simulation cannot fully explore, test, and validate quantum network research ideas in realistic conditions.</a:t>
            </a:r>
            <a:endParaRPr lang="en-US" sz="1100" dirty="0"/>
          </a:p>
        </p:txBody>
      </p:sp>
      <p:sp>
        <p:nvSpPr>
          <p:cNvPr id="12" name="Shape 10"/>
          <p:cNvSpPr/>
          <p:nvPr/>
        </p:nvSpPr>
        <p:spPr>
          <a:xfrm>
            <a:off x="4709160" y="1170432"/>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3" name="Shape 11"/>
          <p:cNvSpPr/>
          <p:nvPr/>
        </p:nvSpPr>
        <p:spPr>
          <a:xfrm>
            <a:off x="4709160" y="1170432"/>
            <a:ext cx="4114800" cy="36576"/>
          </a:xfrm>
          <a:prstGeom prst="rect">
            <a:avLst/>
          </a:prstGeom>
          <a:solidFill>
            <a:srgbClr val="F5C518"/>
          </a:solidFill>
          <a:ln w="12700">
            <a:solidFill>
              <a:srgbClr val="F5C518"/>
            </a:solidFill>
            <a:prstDash val="solid"/>
          </a:ln>
        </p:spPr>
        <p:txBody>
          <a:bodyPr/>
          <a:lstStyle/>
          <a:p>
            <a:endParaRPr lang="nl-NL"/>
          </a:p>
        </p:txBody>
      </p:sp>
      <p:sp>
        <p:nvSpPr>
          <p:cNvPr id="14" name="Text 12"/>
          <p:cNvSpPr/>
          <p:nvPr/>
        </p:nvSpPr>
        <p:spPr>
          <a:xfrm>
            <a:off x="4846320" y="1261872"/>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CHALLENGE 02</a:t>
            </a:r>
            <a:endParaRPr lang="en-US" sz="750" dirty="0"/>
          </a:p>
        </p:txBody>
      </p:sp>
      <p:sp>
        <p:nvSpPr>
          <p:cNvPr id="15" name="Text 13"/>
          <p:cNvSpPr/>
          <p:nvPr/>
        </p:nvSpPr>
        <p:spPr>
          <a:xfrm>
            <a:off x="4846320" y="1472184"/>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Hardware Is Restricted</a:t>
            </a:r>
            <a:endParaRPr lang="en-US" sz="1300" dirty="0"/>
          </a:p>
        </p:txBody>
      </p:sp>
      <p:sp>
        <p:nvSpPr>
          <p:cNvPr id="16" name="Text 14"/>
          <p:cNvSpPr/>
          <p:nvPr/>
        </p:nvSpPr>
        <p:spPr>
          <a:xfrm>
            <a:off x="4846320" y="1792224"/>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Real quantum network hardware in the lab is highly restricted and not freely accessible for experimentation. Qubit number is restricted</a:t>
            </a:r>
            <a:endParaRPr lang="en-US" sz="1100" dirty="0"/>
          </a:p>
        </p:txBody>
      </p:sp>
      <p:sp>
        <p:nvSpPr>
          <p:cNvPr id="17" name="Shape 15"/>
          <p:cNvSpPr/>
          <p:nvPr/>
        </p:nvSpPr>
        <p:spPr>
          <a:xfrm>
            <a:off x="320040" y="2834640"/>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8" name="Shape 16"/>
          <p:cNvSpPr/>
          <p:nvPr/>
        </p:nvSpPr>
        <p:spPr>
          <a:xfrm>
            <a:off x="320040" y="2834640"/>
            <a:ext cx="4114800" cy="36576"/>
          </a:xfrm>
          <a:prstGeom prst="rect">
            <a:avLst/>
          </a:prstGeom>
          <a:solidFill>
            <a:srgbClr val="F5C518"/>
          </a:solidFill>
          <a:ln w="12700">
            <a:solidFill>
              <a:srgbClr val="F5C518"/>
            </a:solidFill>
            <a:prstDash val="solid"/>
          </a:ln>
        </p:spPr>
        <p:txBody>
          <a:bodyPr/>
          <a:lstStyle/>
          <a:p>
            <a:endParaRPr lang="nl-NL"/>
          </a:p>
        </p:txBody>
      </p:sp>
      <p:sp>
        <p:nvSpPr>
          <p:cNvPr id="19" name="Text 17"/>
          <p:cNvSpPr/>
          <p:nvPr/>
        </p:nvSpPr>
        <p:spPr>
          <a:xfrm>
            <a:off x="457200" y="2926080"/>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CHALLENGE 03</a:t>
            </a:r>
            <a:endParaRPr lang="en-US" sz="750" dirty="0"/>
          </a:p>
        </p:txBody>
      </p:sp>
      <p:sp>
        <p:nvSpPr>
          <p:cNvPr id="20" name="Text 18"/>
          <p:cNvSpPr/>
          <p:nvPr/>
        </p:nvSpPr>
        <p:spPr>
          <a:xfrm>
            <a:off x="457200" y="3136392"/>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Multi-Node Research</a:t>
            </a:r>
            <a:endParaRPr lang="en-US" sz="1300" dirty="0"/>
          </a:p>
        </p:txBody>
      </p:sp>
      <p:sp>
        <p:nvSpPr>
          <p:cNvPr id="21" name="Text 19"/>
          <p:cNvSpPr/>
          <p:nvPr/>
        </p:nvSpPr>
        <p:spPr>
          <a:xfrm>
            <a:off x="457200" y="3456432"/>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Many research questions require multiple interconnected nodes operating simultaneously.</a:t>
            </a:r>
            <a:endParaRPr lang="en-US" sz="1100" dirty="0"/>
          </a:p>
        </p:txBody>
      </p:sp>
      <p:sp>
        <p:nvSpPr>
          <p:cNvPr id="22" name="Shape 20"/>
          <p:cNvSpPr/>
          <p:nvPr/>
        </p:nvSpPr>
        <p:spPr>
          <a:xfrm>
            <a:off x="4709160" y="2834640"/>
            <a:ext cx="4114800" cy="1572768"/>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23" name="Shape 21"/>
          <p:cNvSpPr/>
          <p:nvPr/>
        </p:nvSpPr>
        <p:spPr>
          <a:xfrm>
            <a:off x="4709160" y="2834640"/>
            <a:ext cx="4114800" cy="36576"/>
          </a:xfrm>
          <a:prstGeom prst="rect">
            <a:avLst/>
          </a:prstGeom>
          <a:solidFill>
            <a:srgbClr val="F5C518"/>
          </a:solidFill>
          <a:ln w="12700">
            <a:solidFill>
              <a:srgbClr val="F5C518"/>
            </a:solidFill>
            <a:prstDash val="solid"/>
          </a:ln>
        </p:spPr>
        <p:txBody>
          <a:bodyPr/>
          <a:lstStyle/>
          <a:p>
            <a:endParaRPr lang="nl-NL"/>
          </a:p>
        </p:txBody>
      </p:sp>
      <p:sp>
        <p:nvSpPr>
          <p:cNvPr id="24" name="Text 22"/>
          <p:cNvSpPr/>
          <p:nvPr/>
        </p:nvSpPr>
        <p:spPr>
          <a:xfrm>
            <a:off x="4846320" y="2926080"/>
            <a:ext cx="3886200" cy="182880"/>
          </a:xfrm>
          <a:prstGeom prst="rect">
            <a:avLst/>
          </a:prstGeom>
          <a:noFill/>
          <a:ln/>
        </p:spPr>
        <p:txBody>
          <a:bodyPr wrap="square" lIns="0" tIns="0" rIns="0" bIns="0" rtlCol="0" anchor="ctr"/>
          <a:lstStyle/>
          <a:p>
            <a:pPr marL="0" indent="0">
              <a:buNone/>
            </a:pPr>
            <a:r>
              <a:rPr lang="en-US" sz="750" b="1" kern="0" spc="200" dirty="0">
                <a:solidFill>
                  <a:srgbClr val="F5C518"/>
                </a:solidFill>
                <a:latin typeface="Calibri" pitchFamily="34" charset="0"/>
                <a:ea typeface="Calibri" pitchFamily="34" charset="-122"/>
                <a:cs typeface="Calibri" pitchFamily="34" charset="-120"/>
              </a:rPr>
              <a:t>CHALLENGE 04</a:t>
            </a:r>
            <a:endParaRPr lang="en-US" sz="750" dirty="0"/>
          </a:p>
        </p:txBody>
      </p:sp>
      <p:sp>
        <p:nvSpPr>
          <p:cNvPr id="25" name="Text 23"/>
          <p:cNvSpPr/>
          <p:nvPr/>
        </p:nvSpPr>
        <p:spPr>
          <a:xfrm>
            <a:off x="4846320" y="3136392"/>
            <a:ext cx="3886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Real-Time Scenarios</a:t>
            </a:r>
            <a:endParaRPr lang="en-US" sz="1300" dirty="0"/>
          </a:p>
        </p:txBody>
      </p:sp>
      <p:sp>
        <p:nvSpPr>
          <p:cNvPr id="26" name="Text 24"/>
          <p:cNvSpPr/>
          <p:nvPr/>
        </p:nvSpPr>
        <p:spPr>
          <a:xfrm>
            <a:off x="4846320" y="3456432"/>
            <a:ext cx="3840480" cy="8686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Classical communication in real-time scenarios demands a live, responsive test environment.</a:t>
            </a:r>
            <a:endParaRPr lang="en-US" sz="1100" dirty="0"/>
          </a:p>
        </p:txBody>
      </p:sp>
      <p:sp>
        <p:nvSpPr>
          <p:cNvPr id="27" name="Shape 25"/>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28" name="Text 26"/>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ea typeface="Calibri" pitchFamily="34" charset="-122"/>
                <a:cs typeface="Calibri" pitchFamily="34" charset="-120"/>
              </a:rPr>
              <a:t>Internal use only</a:t>
            </a:r>
            <a:endParaRPr lang="en-US" sz="800" dirty="0"/>
          </a:p>
        </p:txBody>
      </p:sp>
      <p:sp>
        <p:nvSpPr>
          <p:cNvPr id="29" name="Text 27"/>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ea typeface="Calibri" pitchFamily="34" charset="-122"/>
                <a:cs typeface="Calibri" pitchFamily="34" charset="-120"/>
              </a:rPr>
              <a:t>04/ 32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 1"/>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 2"/>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 3"/>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Positioning: Simulation vs QI Lab vs Real Hardware</a:t>
            </a:r>
            <a:endParaRPr lang="en-US" sz="2200" dirty="0"/>
          </a:p>
        </p:txBody>
      </p:sp>
      <p:sp>
        <p:nvSpPr>
          <p:cNvPr id="6" name="Text 4"/>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ea typeface="Calibri" pitchFamily="34" charset="-122"/>
                <a:cs typeface="Calibri" pitchFamily="34" charset="-120"/>
              </a:rPr>
              <a:t>Where does QI Lab sit in the research toolchain?</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195108473"/>
              </p:ext>
            </p:extLst>
          </p:nvPr>
        </p:nvGraphicFramePr>
        <p:xfrm>
          <a:off x="320040" y="1170432"/>
          <a:ext cx="8503920" cy="2962656"/>
        </p:xfrm>
        <a:graphic>
          <a:graphicData uri="http://schemas.openxmlformats.org/drawingml/2006/table">
            <a:tbl>
              <a:tblPr/>
              <a:tblGrid>
                <a:gridCol w="30175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9377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1A2E5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Pure Simulation</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1A2E5A"/>
                    </a:solidFill>
                  </a:tcPr>
                </a:tc>
                <a:tc>
                  <a:txBody>
                    <a:bodyPr/>
                    <a:lstStyle/>
                    <a:p>
                      <a:pPr marL="0" indent="0" algn="ctr">
                        <a:buNone/>
                      </a:pPr>
                      <a:r>
                        <a:rPr lang="en-US" sz="1200" b="1" dirty="0">
                          <a:solidFill>
                            <a:srgbClr val="1A2E5A"/>
                          </a:solidFill>
                          <a:latin typeface="Calibri" pitchFamily="34" charset="0"/>
                          <a:ea typeface="Calibri" pitchFamily="34" charset="-122"/>
                          <a:cs typeface="Calibri" pitchFamily="34" charset="-120"/>
                        </a:rPr>
                        <a:t>QI Lab</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F5C518"/>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Real Quantum HW</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1A2E5A"/>
                    </a:solidFill>
                  </a:tcPr>
                </a:tc>
                <a:extLst>
                  <a:ext uri="{0D108BD9-81ED-4DB2-BD59-A6C34878D82A}">
                    <a16:rowId xmlns:a16="http://schemas.microsoft.com/office/drawing/2014/main" val="10000"/>
                  </a:ext>
                </a:extLst>
              </a:tr>
              <a:tr h="493776">
                <a:tc>
                  <a:txBody>
                    <a:bodyPr/>
                    <a:lstStyle/>
                    <a:p>
                      <a:pPr marL="0" indent="0" algn="l">
                        <a:buNone/>
                      </a:pPr>
                      <a:r>
                        <a:rPr lang="en-US" sz="1200" b="1" dirty="0">
                          <a:solidFill>
                            <a:srgbClr val="374151"/>
                          </a:solidFill>
                          <a:latin typeface="Calibri" pitchFamily="34" charset="0"/>
                          <a:ea typeface="Calibri" pitchFamily="34" charset="-122"/>
                          <a:cs typeface="Calibri" pitchFamily="34" charset="-120"/>
                        </a:rPr>
                        <a:t>Accessibility</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High</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High</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FFFBEA"/>
                    </a:solidFill>
                  </a:tcPr>
                </a:tc>
                <a:tc>
                  <a:txBody>
                    <a:bodyPr/>
                    <a:lstStyle/>
                    <a:p>
                      <a:pPr marL="0" indent="0" algn="ctr">
                        <a:buNone/>
                      </a:pPr>
                      <a:r>
                        <a:rPr lang="en-US" sz="1200" dirty="0">
                          <a:solidFill>
                            <a:srgbClr val="DC2626"/>
                          </a:solidFill>
                          <a:latin typeface="Calibri" pitchFamily="34" charset="0"/>
                          <a:ea typeface="Calibri" pitchFamily="34" charset="-122"/>
                          <a:cs typeface="Calibri" pitchFamily="34" charset="-120"/>
                        </a:rPr>
                        <a:t>✘  Very Limited</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1"/>
                  </a:ext>
                </a:extLst>
              </a:tr>
              <a:tr h="493776">
                <a:tc>
                  <a:txBody>
                    <a:bodyPr/>
                    <a:lstStyle/>
                    <a:p>
                      <a:pPr marL="0" indent="0" algn="l">
                        <a:buNone/>
                      </a:pPr>
                      <a:r>
                        <a:rPr lang="en-US" sz="1200" b="1" dirty="0">
                          <a:solidFill>
                            <a:srgbClr val="374151"/>
                          </a:solidFill>
                          <a:latin typeface="Calibri" pitchFamily="34" charset="0"/>
                          <a:ea typeface="Calibri" pitchFamily="34" charset="-122"/>
                          <a:cs typeface="Calibri" pitchFamily="34" charset="-120"/>
                        </a:rPr>
                        <a:t>Real-time classical comms</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DC2626"/>
                          </a:solidFill>
                          <a:latin typeface="Calibri" pitchFamily="34" charset="0"/>
                          <a:ea typeface="Calibri" pitchFamily="34" charset="-122"/>
                          <a:cs typeface="Calibri" pitchFamily="34" charset="-120"/>
                        </a:rPr>
                        <a:t>✘  No</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FFFBEA"/>
                    </a:solidFill>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2"/>
                  </a:ext>
                </a:extLst>
              </a:tr>
              <a:tr h="493776">
                <a:tc>
                  <a:txBody>
                    <a:bodyPr/>
                    <a:lstStyle/>
                    <a:p>
                      <a:pPr marL="0" indent="0" algn="l">
                        <a:buNone/>
                      </a:pPr>
                      <a:r>
                        <a:rPr lang="en-US" sz="1200" b="1" dirty="0">
                          <a:solidFill>
                            <a:srgbClr val="374151"/>
                          </a:solidFill>
                          <a:latin typeface="Calibri" pitchFamily="34" charset="0"/>
                          <a:ea typeface="Calibri" pitchFamily="34" charset="-122"/>
                          <a:cs typeface="Calibri" pitchFamily="34" charset="-120"/>
                        </a:rPr>
                        <a:t>Multi-node support</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FFFBEA"/>
                    </a:solidFill>
                  </a:tcPr>
                </a:tc>
                <a:tc>
                  <a:txBody>
                    <a:bodyPr/>
                    <a:lstStyle/>
                    <a:p>
                      <a:pPr marL="0" indent="0" algn="ctr">
                        <a:buNone/>
                      </a:pPr>
                      <a:r>
                        <a:rPr lang="en-US" sz="1200" dirty="0">
                          <a:solidFill>
                            <a:srgbClr val="D97706"/>
                          </a:solidFill>
                          <a:latin typeface="Calibri" pitchFamily="34" charset="0"/>
                          <a:ea typeface="Calibri" pitchFamily="34" charset="-122"/>
                          <a:cs typeface="Calibri" pitchFamily="34" charset="-120"/>
                        </a:rPr>
                        <a:t>~ Yes, but Restricted</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3"/>
                  </a:ext>
                </a:extLst>
              </a:tr>
              <a:tr h="493776">
                <a:tc>
                  <a:txBody>
                    <a:bodyPr/>
                    <a:lstStyle/>
                    <a:p>
                      <a:pPr marL="0" indent="0" algn="l">
                        <a:buNone/>
                      </a:pPr>
                      <a:r>
                        <a:rPr lang="en-US" sz="1200" b="1" dirty="0">
                          <a:solidFill>
                            <a:srgbClr val="374151"/>
                          </a:solidFill>
                          <a:latin typeface="Calibri" pitchFamily="34" charset="0"/>
                          <a:ea typeface="Calibri" pitchFamily="34" charset="-122"/>
                          <a:cs typeface="Calibri" pitchFamily="34" charset="-120"/>
                        </a:rPr>
                        <a:t>Real classical HW stack</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DC2626"/>
                          </a:solidFill>
                          <a:latin typeface="Calibri" pitchFamily="34" charset="0"/>
                          <a:ea typeface="Calibri" pitchFamily="34" charset="-122"/>
                          <a:cs typeface="Calibri" pitchFamily="34" charset="-120"/>
                        </a:rPr>
                        <a:t>✘  No</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FFFBEA"/>
                    </a:solidFill>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  Yes</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4"/>
                  </a:ext>
                </a:extLst>
              </a:tr>
              <a:tr h="493776">
                <a:tc>
                  <a:txBody>
                    <a:bodyPr/>
                    <a:lstStyle/>
                    <a:p>
                      <a:pPr marL="0" indent="0" algn="l">
                        <a:buNone/>
                      </a:pPr>
                      <a:r>
                        <a:rPr lang="en-US" sz="1200" b="1" dirty="0">
                          <a:solidFill>
                            <a:srgbClr val="374151"/>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200" dirty="0">
                          <a:solidFill>
                            <a:srgbClr val="16A34A"/>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FFFBEA"/>
                    </a:solidFill>
                  </a:tcPr>
                </a:tc>
                <a:tc>
                  <a:txBody>
                    <a:bodyPr/>
                    <a:lstStyle/>
                    <a:p>
                      <a:pPr marL="0" indent="0" algn="ctr">
                        <a:buNone/>
                      </a:pPr>
                      <a:r>
                        <a:rPr lang="en-US" sz="1200" dirty="0">
                          <a:solidFill>
                            <a:srgbClr val="DC2626"/>
                          </a:solidFill>
                          <a:latin typeface="Calibri" pitchFamily="34" charset="0"/>
                          <a:ea typeface="Calibri" pitchFamily="34" charset="-122"/>
                          <a:cs typeface="Calibri" pitchFamily="34" charset="-120"/>
                        </a:rPr>
                        <a:t>Very High</a:t>
                      </a:r>
                      <a:endParaRPr lang="en-US" sz="12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 name="Text 6"/>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ea typeface="Calibri" pitchFamily="34" charset="-122"/>
                <a:cs typeface="Calibri" pitchFamily="34" charset="-120"/>
              </a:rPr>
              <a:t>Internal use only</a:t>
            </a:r>
            <a:endParaRPr lang="en-US" sz="800" dirty="0"/>
          </a:p>
        </p:txBody>
      </p:sp>
      <p:sp>
        <p:nvSpPr>
          <p:cNvPr id="11" name="Text_Footer_Right">
            <a:extLst>
              <a:ext uri="{FF2B5EF4-FFF2-40B4-BE49-F238E27FC236}">
                <a16:creationId xmlns:a16="http://schemas.microsoft.com/office/drawing/2014/main" id="{BA0546C5-240B-BE12-19F5-0A8D2BD9FAB1}"/>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05 / 32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F5C518"/>
          </a:solidFill>
          <a:ln w="12700">
            <a:solidFill>
              <a:srgbClr val="F5C518"/>
            </a:solidFill>
            <a:prstDash val="solid"/>
          </a:ln>
        </p:spPr>
        <p:txBody>
          <a:bodyPr/>
          <a:lstStyle/>
          <a:p>
            <a:endParaRPr lang="nl-NL"/>
          </a:p>
        </p:txBody>
      </p:sp>
      <p:sp>
        <p:nvSpPr>
          <p:cNvPr id="3" name="Text 1"/>
          <p:cNvSpPr/>
          <p:nvPr/>
        </p:nvSpPr>
        <p:spPr>
          <a:xfrm>
            <a:off x="548640" y="1188720"/>
            <a:ext cx="2286000" cy="1280160"/>
          </a:xfrm>
          <a:prstGeom prst="rect">
            <a:avLst/>
          </a:prstGeom>
          <a:noFill/>
          <a:ln/>
        </p:spPr>
        <p:txBody>
          <a:bodyPr wrap="square" lIns="0" tIns="0" rIns="0" bIns="0" rtlCol="0" anchor="ctr"/>
          <a:lstStyle/>
          <a:p>
            <a:pPr marL="0" indent="0">
              <a:buNone/>
            </a:pPr>
            <a:r>
              <a:rPr lang="en-US" sz="8000" b="1" dirty="0">
                <a:solidFill>
                  <a:srgbClr val="253D78"/>
                </a:solidFill>
                <a:latin typeface="Calibri" pitchFamily="34" charset="0"/>
                <a:ea typeface="Calibri" pitchFamily="34" charset="-122"/>
                <a:cs typeface="Calibri" pitchFamily="34" charset="-120"/>
              </a:rPr>
              <a:t>03</a:t>
            </a:r>
            <a:endParaRPr lang="en-US" sz="8000" dirty="0"/>
          </a:p>
        </p:txBody>
      </p:sp>
      <p:sp>
        <p:nvSpPr>
          <p:cNvPr id="4" name="Text 2"/>
          <p:cNvSpPr/>
          <p:nvPr/>
        </p:nvSpPr>
        <p:spPr>
          <a:xfrm>
            <a:off x="548640" y="2377440"/>
            <a:ext cx="777240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Technical Architecture</a:t>
            </a:r>
            <a:endParaRPr lang="en-US" sz="3200" dirty="0"/>
          </a:p>
        </p:txBody>
      </p:sp>
      <p:sp>
        <p:nvSpPr>
          <p:cNvPr id="5" name="Text 3"/>
          <p:cNvSpPr/>
          <p:nvPr/>
        </p:nvSpPr>
        <p:spPr>
          <a:xfrm>
            <a:off x="548640" y="3090672"/>
            <a:ext cx="6400800" cy="365760"/>
          </a:xfrm>
          <a:prstGeom prst="rect">
            <a:avLst/>
          </a:prstGeom>
          <a:noFill/>
          <a:ln/>
        </p:spPr>
        <p:txBody>
          <a:bodyPr wrap="square" lIns="0" tIns="0" rIns="0" bIns="0" rtlCol="0" anchor="ctr"/>
          <a:lstStyle/>
          <a:p>
            <a:pPr marL="0" indent="0">
              <a:buNone/>
            </a:pPr>
            <a:r>
              <a:rPr lang="en-US" sz="1300" dirty="0">
                <a:solidFill>
                  <a:srgbClr val="9DB8E0"/>
                </a:solidFill>
                <a:latin typeface="Calibri" pitchFamily="34" charset="0"/>
                <a:ea typeface="Calibri" pitchFamily="34" charset="-122"/>
                <a:cs typeface="Calibri" pitchFamily="34" charset="-120"/>
              </a:rPr>
              <a:t>Hardware platform, software design, and positioning</a:t>
            </a:r>
            <a:endParaRPr lang="en-US" sz="1300" dirty="0"/>
          </a:p>
        </p:txBody>
      </p:sp>
      <p:sp>
        <p:nvSpPr>
          <p:cNvPr id="6" name="Shape 4"/>
          <p:cNvSpPr/>
          <p:nvPr/>
        </p:nvSpPr>
        <p:spPr>
          <a:xfrm>
            <a:off x="0" y="4892040"/>
            <a:ext cx="9144000" cy="251460"/>
          </a:xfrm>
          <a:prstGeom prst="rect">
            <a:avLst/>
          </a:prstGeom>
          <a:solidFill>
            <a:srgbClr val="0F1D3A"/>
          </a:solidFill>
          <a:ln w="12700">
            <a:solidFill>
              <a:srgbClr val="0F1D3A"/>
            </a:solidFill>
            <a:prstDash val="solid"/>
          </a:ln>
        </p:spPr>
        <p:txBody>
          <a:bodyPr/>
          <a:lstStyle/>
          <a:p>
            <a:endParaRPr lang="nl-NL"/>
          </a:p>
        </p:txBody>
      </p:sp>
      <p:sp>
        <p:nvSpPr>
          <p:cNvPr id="7" name="Text 5"/>
          <p:cNvSpPr/>
          <p:nvPr/>
        </p:nvSpPr>
        <p:spPr>
          <a:xfrm>
            <a:off x="365760" y="4901184"/>
            <a:ext cx="8229600" cy="201168"/>
          </a:xfrm>
          <a:prstGeom prst="rect">
            <a:avLst/>
          </a:prstGeom>
          <a:noFill/>
          <a:ln/>
        </p:spPr>
        <p:txBody>
          <a:bodyPr wrap="square" lIns="0" tIns="0" rIns="0" bIns="0" rtlCol="0" anchor="ctr"/>
          <a:lstStyle/>
          <a:p>
            <a:pPr marL="0" indent="0">
              <a:buNone/>
            </a:pPr>
            <a:r>
              <a:rPr lang="en-US" sz="800" i="1" dirty="0">
                <a:solidFill>
                  <a:srgbClr val="4A6A9A"/>
                </a:solidFill>
                <a:latin typeface="Calibri" pitchFamily="34" charset="0"/>
                <a:ea typeface="Calibri" pitchFamily="34" charset="-122"/>
                <a:cs typeface="Calibri" pitchFamily="34" charset="-120"/>
              </a:rPr>
              <a:t>Internal use only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2EE88D9-EC79-0DB2-1BF9-799CBF00B3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42897A-7D2F-7B99-155C-F485D5768692}"/>
              </a:ext>
            </a:extLst>
          </p:cNvP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 1">
            <a:extLst>
              <a:ext uri="{FF2B5EF4-FFF2-40B4-BE49-F238E27FC236}">
                <a16:creationId xmlns:a16="http://schemas.microsoft.com/office/drawing/2014/main" id="{10F6D253-E1AE-39DB-773D-8E3FADD0081E}"/>
              </a:ext>
            </a:extLst>
          </p:cNvP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 2">
            <a:extLst>
              <a:ext uri="{FF2B5EF4-FFF2-40B4-BE49-F238E27FC236}">
                <a16:creationId xmlns:a16="http://schemas.microsoft.com/office/drawing/2014/main" id="{A8006E94-9D21-B5B8-89CB-5D8EEA3C91A8}"/>
              </a:ext>
            </a:extLst>
          </p:cNvP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 3">
            <a:extLst>
              <a:ext uri="{FF2B5EF4-FFF2-40B4-BE49-F238E27FC236}">
                <a16:creationId xmlns:a16="http://schemas.microsoft.com/office/drawing/2014/main" id="{540E3046-E566-E135-2940-FFFE8FAE4F6B}"/>
              </a:ext>
            </a:extLst>
          </p:cNvPr>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Hardware Platform &amp; Software Architecture</a:t>
            </a:r>
            <a:endParaRPr lang="en-US" sz="2200" dirty="0"/>
          </a:p>
        </p:txBody>
      </p:sp>
      <p:sp>
        <p:nvSpPr>
          <p:cNvPr id="6" name="Text 4">
            <a:extLst>
              <a:ext uri="{FF2B5EF4-FFF2-40B4-BE49-F238E27FC236}">
                <a16:creationId xmlns:a16="http://schemas.microsoft.com/office/drawing/2014/main" id="{2D7B6D21-3424-A5DB-71A0-0865CCC6281C}"/>
              </a:ext>
            </a:extLst>
          </p:cNvPr>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ea typeface="Calibri" pitchFamily="34" charset="-122"/>
                <a:cs typeface="Calibri" pitchFamily="34" charset="-120"/>
              </a:rPr>
              <a:t>Raspberry Pi 5 + Pico with a modular, threaded software design</a:t>
            </a:r>
            <a:endParaRPr lang="en-US" sz="1100" dirty="0"/>
          </a:p>
        </p:txBody>
      </p:sp>
      <p:sp>
        <p:nvSpPr>
          <p:cNvPr id="7" name="Shape 5">
            <a:extLst>
              <a:ext uri="{FF2B5EF4-FFF2-40B4-BE49-F238E27FC236}">
                <a16:creationId xmlns:a16="http://schemas.microsoft.com/office/drawing/2014/main" id="{C3F95518-5EBF-AF54-C7D2-635F72072C9C}"/>
              </a:ext>
            </a:extLst>
          </p:cNvPr>
          <p:cNvSpPr/>
          <p:nvPr/>
        </p:nvSpPr>
        <p:spPr>
          <a:xfrm>
            <a:off x="320039" y="1115568"/>
            <a:ext cx="3485841" cy="3566160"/>
          </a:xfrm>
          <a:prstGeom prst="rect">
            <a:avLst/>
          </a:prstGeom>
          <a:solidFill>
            <a:srgbClr val="FFFBEA"/>
          </a:solidFill>
          <a:ln w="19050">
            <a:solidFill>
              <a:srgbClr val="E8D48A"/>
            </a:solidFill>
            <a:prstDash val="solid"/>
          </a:ln>
        </p:spPr>
        <p:txBody>
          <a:bodyPr/>
          <a:lstStyle/>
          <a:p>
            <a:endParaRPr lang="nl-NL" dirty="0"/>
          </a:p>
        </p:txBody>
      </p:sp>
      <p:sp>
        <p:nvSpPr>
          <p:cNvPr id="8" name="Shape 6">
            <a:extLst>
              <a:ext uri="{FF2B5EF4-FFF2-40B4-BE49-F238E27FC236}">
                <a16:creationId xmlns:a16="http://schemas.microsoft.com/office/drawing/2014/main" id="{79B899B5-FDC8-721B-1C27-D225BFF32B84}"/>
              </a:ext>
            </a:extLst>
          </p:cNvPr>
          <p:cNvSpPr/>
          <p:nvPr/>
        </p:nvSpPr>
        <p:spPr>
          <a:xfrm>
            <a:off x="320040" y="1115568"/>
            <a:ext cx="45720" cy="3566160"/>
          </a:xfrm>
          <a:prstGeom prst="rect">
            <a:avLst/>
          </a:prstGeom>
          <a:solidFill>
            <a:srgbClr val="F5C518"/>
          </a:solidFill>
          <a:ln w="12700">
            <a:solidFill>
              <a:srgbClr val="F5C518"/>
            </a:solidFill>
            <a:prstDash val="solid"/>
          </a:ln>
        </p:spPr>
        <p:txBody>
          <a:bodyPr/>
          <a:lstStyle/>
          <a:p>
            <a:endParaRPr lang="nl-NL"/>
          </a:p>
        </p:txBody>
      </p:sp>
      <p:sp>
        <p:nvSpPr>
          <p:cNvPr id="9" name="Text 7">
            <a:extLst>
              <a:ext uri="{FF2B5EF4-FFF2-40B4-BE49-F238E27FC236}">
                <a16:creationId xmlns:a16="http://schemas.microsoft.com/office/drawing/2014/main" id="{7AD4F86F-946E-025A-799B-29CF9C2B532F}"/>
              </a:ext>
            </a:extLst>
          </p:cNvPr>
          <p:cNvSpPr/>
          <p:nvPr/>
        </p:nvSpPr>
        <p:spPr>
          <a:xfrm>
            <a:off x="411480" y="1199986"/>
            <a:ext cx="388620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SOFTWARE —MULTITHREADED REAL-TIME </a:t>
            </a:r>
            <a:br>
              <a:rPr lang="en-US" sz="800" b="1" kern="0" spc="300" dirty="0">
                <a:solidFill>
                  <a:srgbClr val="2E5FAD"/>
                </a:solidFill>
                <a:latin typeface="Calibri" pitchFamily="34" charset="0"/>
                <a:ea typeface="Calibri" pitchFamily="34" charset="-122"/>
                <a:cs typeface="Calibri" pitchFamily="34" charset="-120"/>
              </a:rPr>
            </a:br>
            <a:r>
              <a:rPr lang="en-US" sz="800" b="1" kern="0" spc="300" dirty="0">
                <a:solidFill>
                  <a:srgbClr val="2E5FAD"/>
                </a:solidFill>
                <a:latin typeface="Calibri" pitchFamily="34" charset="0"/>
                <a:ea typeface="Calibri" pitchFamily="34" charset="-122"/>
                <a:cs typeface="Calibri" pitchFamily="34" charset="-120"/>
              </a:rPr>
              <a:t>RUNTIME </a:t>
            </a:r>
            <a:endParaRPr lang="en-US" sz="800" dirty="0"/>
          </a:p>
        </p:txBody>
      </p:sp>
      <p:sp>
        <p:nvSpPr>
          <p:cNvPr id="10" name="Text 8">
            <a:extLst>
              <a:ext uri="{FF2B5EF4-FFF2-40B4-BE49-F238E27FC236}">
                <a16:creationId xmlns:a16="http://schemas.microsoft.com/office/drawing/2014/main" id="{CF6815AD-3E4B-05FA-DC0D-895C5FE09BBB}"/>
              </a:ext>
            </a:extLst>
          </p:cNvPr>
          <p:cNvSpPr/>
          <p:nvPr/>
        </p:nvSpPr>
        <p:spPr>
          <a:xfrm>
            <a:off x="457200" y="1426464"/>
            <a:ext cx="3840480" cy="347472"/>
          </a:xfrm>
          <a:prstGeom prst="rect">
            <a:avLst/>
          </a:prstGeom>
          <a:noFill/>
          <a:ln/>
        </p:spPr>
        <p:txBody>
          <a:bodyPr wrap="square" lIns="0" tIns="0" rIns="0" bIns="0" rtlCol="0" anchor="ctr"/>
          <a:lstStyle/>
          <a:p>
            <a:pPr marL="0" indent="0">
              <a:buNone/>
            </a:pPr>
            <a:r>
              <a:rPr lang="en-US" sz="1500" b="1" dirty="0">
                <a:solidFill>
                  <a:srgbClr val="111827"/>
                </a:solidFill>
                <a:latin typeface="Calibri" pitchFamily="34" charset="0"/>
                <a:ea typeface="Calibri" pitchFamily="34" charset="-122"/>
                <a:cs typeface="Calibri" pitchFamily="34" charset="-120"/>
              </a:rPr>
              <a:t>Raspberry Pi 5 + Pico</a:t>
            </a:r>
            <a:endParaRPr lang="en-US" sz="1500" dirty="0"/>
          </a:p>
        </p:txBody>
      </p:sp>
      <p:sp>
        <p:nvSpPr>
          <p:cNvPr id="11" name="Text 9">
            <a:extLst>
              <a:ext uri="{FF2B5EF4-FFF2-40B4-BE49-F238E27FC236}">
                <a16:creationId xmlns:a16="http://schemas.microsoft.com/office/drawing/2014/main" id="{4BB82A53-AD33-7A14-1FA9-F1246DA30AED}"/>
              </a:ext>
            </a:extLst>
          </p:cNvPr>
          <p:cNvSpPr/>
          <p:nvPr/>
        </p:nvSpPr>
        <p:spPr>
          <a:xfrm>
            <a:off x="457200" y="1847088"/>
            <a:ext cx="3200400" cy="2606040"/>
          </a:xfrm>
          <a:prstGeom prst="rect">
            <a:avLst/>
          </a:prstGeom>
          <a:noFill/>
          <a:ln/>
        </p:spPr>
        <p:txBody>
          <a:bodyPr wrap="square" rtlCol="0" anchor="ctr"/>
          <a:lstStyle/>
          <a:p>
            <a:pPr marL="342900" indent="-342900">
              <a:spcAft>
                <a:spcPts val="500"/>
              </a:spcAft>
              <a:buSzPct val="100000"/>
              <a:buChar char="•"/>
            </a:pPr>
            <a:endParaRPr lang="en-US" sz="1200" dirty="0">
              <a:solidFill>
                <a:srgbClr val="374151"/>
              </a:solidFill>
              <a:latin typeface="Calibri" pitchFamily="34" charset="0"/>
              <a:ea typeface="Calibri" pitchFamily="34" charset="-122"/>
              <a:cs typeface="Calibri" pitchFamily="34" charset="-120"/>
            </a:endParaRPr>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Multithreaded architecture and physical core isolation</a:t>
            </a:r>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Lock-free messaging++7 </a:t>
            </a:r>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Configurable transmission mechanism – supports different mechanism and number of nodes</a:t>
            </a:r>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Configurable simulation block – supports different simulations engines and simulation instructions sets (NV center, generic)</a:t>
            </a:r>
          </a:p>
          <a:p>
            <a:pPr marL="342900" indent="-342900">
              <a:spcAft>
                <a:spcPts val="500"/>
              </a:spcAft>
              <a:buSzPct val="100000"/>
              <a:buChar char="•"/>
            </a:pPr>
            <a:r>
              <a:rPr lang="en-US" sz="1200" dirty="0">
                <a:solidFill>
                  <a:srgbClr val="374151"/>
                </a:solidFill>
                <a:latin typeface="Calibri" pitchFamily="34" charset="0"/>
                <a:ea typeface="Calibri" pitchFamily="34" charset="-122"/>
                <a:cs typeface="Calibri" pitchFamily="34" charset="-120"/>
              </a:rPr>
              <a:t>Entanglement block that manages and pairs up requests</a:t>
            </a:r>
          </a:p>
          <a:p>
            <a:pPr marL="342900" indent="-342900">
              <a:spcAft>
                <a:spcPts val="500"/>
              </a:spcAft>
              <a:buSzPct val="100000"/>
              <a:buChar char="•"/>
            </a:pPr>
            <a:endParaRPr lang="en-US" sz="1200" dirty="0"/>
          </a:p>
        </p:txBody>
      </p:sp>
      <p:sp>
        <p:nvSpPr>
          <p:cNvPr id="12" name="Text 10">
            <a:extLst>
              <a:ext uri="{FF2B5EF4-FFF2-40B4-BE49-F238E27FC236}">
                <a16:creationId xmlns:a16="http://schemas.microsoft.com/office/drawing/2014/main" id="{01C2F49B-93D1-0C74-EBE2-6FD5708A8E5B}"/>
              </a:ext>
            </a:extLst>
          </p:cNvPr>
          <p:cNvSpPr/>
          <p:nvPr/>
        </p:nvSpPr>
        <p:spPr>
          <a:xfrm>
            <a:off x="3977640" y="1151384"/>
            <a:ext cx="420624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SOFTWARE ARCHITECTURE SIMULATION PLATFORM</a:t>
            </a:r>
            <a:endParaRPr lang="en-US" sz="800" dirty="0"/>
          </a:p>
        </p:txBody>
      </p:sp>
      <p:sp>
        <p:nvSpPr>
          <p:cNvPr id="14" name="Shape 11">
            <a:extLst>
              <a:ext uri="{FF2B5EF4-FFF2-40B4-BE49-F238E27FC236}">
                <a16:creationId xmlns:a16="http://schemas.microsoft.com/office/drawing/2014/main" id="{F7CD98F0-0C2D-C9D2-C2E2-278F217F0982}"/>
              </a:ext>
            </a:extLst>
          </p:cNvPr>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15" name="Text 12">
            <a:extLst>
              <a:ext uri="{FF2B5EF4-FFF2-40B4-BE49-F238E27FC236}">
                <a16:creationId xmlns:a16="http://schemas.microsoft.com/office/drawing/2014/main" id="{0EFF5F0D-0304-452F-199A-104B9D31D290}"/>
              </a:ext>
            </a:extLst>
          </p:cNvPr>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ea typeface="Calibri" pitchFamily="34" charset="-122"/>
                <a:cs typeface="Calibri" pitchFamily="34" charset="-120"/>
              </a:rPr>
              <a:t>Internal use only</a:t>
            </a:r>
            <a:endParaRPr lang="en-US" sz="800" dirty="0"/>
          </a:p>
        </p:txBody>
      </p:sp>
      <p:pic>
        <p:nvPicPr>
          <p:cNvPr id="17" name="Picture 16">
            <a:extLst>
              <a:ext uri="{FF2B5EF4-FFF2-40B4-BE49-F238E27FC236}">
                <a16:creationId xmlns:a16="http://schemas.microsoft.com/office/drawing/2014/main" id="{877BC301-0ADF-4096-D021-99713F6C00F0}"/>
              </a:ext>
            </a:extLst>
          </p:cNvPr>
          <p:cNvPicPr>
            <a:picLocks noChangeAspect="1"/>
          </p:cNvPicPr>
          <p:nvPr/>
        </p:nvPicPr>
        <p:blipFill>
          <a:blip r:embed="rId3"/>
          <a:stretch>
            <a:fillRect/>
          </a:stretch>
        </p:blipFill>
        <p:spPr>
          <a:xfrm>
            <a:off x="3851601" y="1410298"/>
            <a:ext cx="5236794" cy="3134270"/>
          </a:xfrm>
          <a:prstGeom prst="rect">
            <a:avLst/>
          </a:prstGeom>
        </p:spPr>
      </p:pic>
      <p:sp>
        <p:nvSpPr>
          <p:cNvPr id="13" name="Text_Footer_Right">
            <a:extLst>
              <a:ext uri="{FF2B5EF4-FFF2-40B4-BE49-F238E27FC236}">
                <a16:creationId xmlns:a16="http://schemas.microsoft.com/office/drawing/2014/main" id="{39E97F75-E6DB-7203-C3E2-F5BA51579776}"/>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06 / 32</a:t>
            </a:r>
          </a:p>
        </p:txBody>
      </p:sp>
    </p:spTree>
    <p:extLst>
      <p:ext uri="{BB962C8B-B14F-4D97-AF65-F5344CB8AC3E}">
        <p14:creationId xmlns:p14="http://schemas.microsoft.com/office/powerpoint/2010/main" val="1172961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 1"/>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 2"/>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 3"/>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Stim &amp; Stabilizer Tableau</a:t>
            </a:r>
            <a:endParaRPr lang="en-US" sz="2200" dirty="0"/>
          </a:p>
        </p:txBody>
      </p:sp>
      <p:sp>
        <p:nvSpPr>
          <p:cNvPr id="6" name="Text 4"/>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ea typeface="Calibri" pitchFamily="34" charset="-122"/>
                <a:cs typeface="Calibri" pitchFamily="34" charset="-120"/>
              </a:rPr>
              <a:t>Quantum circuit simulator · Internal state representation</a:t>
            </a:r>
            <a:endParaRPr lang="en-US" sz="1100" dirty="0"/>
          </a:p>
        </p:txBody>
      </p:sp>
      <p:sp>
        <p:nvSpPr>
          <p:cNvPr id="7" name="Shape 5"/>
          <p:cNvSpPr/>
          <p:nvPr/>
        </p:nvSpPr>
        <p:spPr>
          <a:xfrm>
            <a:off x="320040" y="1115568"/>
            <a:ext cx="4160520" cy="3566160"/>
          </a:xfrm>
          <a:prstGeom prst="rect">
            <a:avLst/>
          </a:prstGeom>
          <a:solidFill>
            <a:srgbClr val="F0F5FC"/>
          </a:solidFill>
          <a:ln w="12700">
            <a:solidFill>
              <a:srgbClr val="C8D9F0"/>
            </a:solidFill>
            <a:prstDash val="solid"/>
          </a:ln>
        </p:spPr>
        <p:txBody>
          <a:bodyPr/>
          <a:lstStyle/>
          <a:p>
            <a:endParaRPr lang="nl-NL"/>
          </a:p>
        </p:txBody>
      </p:sp>
      <p:sp>
        <p:nvSpPr>
          <p:cNvPr id="8" name="Shape 6"/>
          <p:cNvSpPr/>
          <p:nvPr/>
        </p:nvSpPr>
        <p:spPr>
          <a:xfrm>
            <a:off x="320040" y="1115568"/>
            <a:ext cx="45720" cy="3566160"/>
          </a:xfrm>
          <a:prstGeom prst="rect">
            <a:avLst/>
          </a:prstGeom>
          <a:solidFill>
            <a:srgbClr val="F5C518"/>
          </a:solidFill>
          <a:ln w="12700">
            <a:solidFill>
              <a:srgbClr val="F5C518"/>
            </a:solidFill>
            <a:prstDash val="solid"/>
          </a:ln>
        </p:spPr>
        <p:txBody>
          <a:bodyPr/>
          <a:lstStyle/>
          <a:p>
            <a:endParaRPr lang="nl-NL"/>
          </a:p>
        </p:txBody>
      </p:sp>
      <p:sp>
        <p:nvSpPr>
          <p:cNvPr id="9" name="Text 7"/>
          <p:cNvSpPr/>
          <p:nvPr/>
        </p:nvSpPr>
        <p:spPr>
          <a:xfrm>
            <a:off x="457200" y="1207008"/>
            <a:ext cx="393192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SIMULATOR</a:t>
            </a:r>
            <a:endParaRPr lang="en-US" sz="800" dirty="0"/>
          </a:p>
        </p:txBody>
      </p:sp>
      <p:sp>
        <p:nvSpPr>
          <p:cNvPr id="10" name="Text 8"/>
          <p:cNvSpPr/>
          <p:nvPr/>
        </p:nvSpPr>
        <p:spPr>
          <a:xfrm>
            <a:off x="457200" y="1426464"/>
            <a:ext cx="3840480" cy="347472"/>
          </a:xfrm>
          <a:prstGeom prst="rect">
            <a:avLst/>
          </a:prstGeom>
          <a:noFill/>
          <a:ln/>
        </p:spPr>
        <p:txBody>
          <a:bodyPr wrap="square" lIns="0" tIns="0" rIns="0" bIns="0" rtlCol="0" anchor="ctr"/>
          <a:lstStyle/>
          <a:p>
            <a:pPr marL="0" indent="0">
              <a:buNone/>
            </a:pPr>
            <a:r>
              <a:rPr lang="en-US" sz="1800" b="1" dirty="0">
                <a:solidFill>
                  <a:srgbClr val="1A2E5A"/>
                </a:solidFill>
                <a:latin typeface="Calibri" pitchFamily="34" charset="0"/>
                <a:ea typeface="Calibri" pitchFamily="34" charset="-122"/>
                <a:cs typeface="Calibri" pitchFamily="34" charset="-120"/>
              </a:rPr>
              <a:t>Stim</a:t>
            </a:r>
            <a:endParaRPr lang="en-US" sz="1800" dirty="0"/>
          </a:p>
        </p:txBody>
      </p:sp>
      <p:sp>
        <p:nvSpPr>
          <p:cNvPr id="11" name="Text 9"/>
          <p:cNvSpPr/>
          <p:nvPr/>
        </p:nvSpPr>
        <p:spPr>
          <a:xfrm>
            <a:off x="457200" y="1792224"/>
            <a:ext cx="3840480" cy="2286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High-performance Clifford circuit simulator</a:t>
            </a:r>
            <a:endParaRPr lang="en-US" sz="1100" dirty="0"/>
          </a:p>
        </p:txBody>
      </p:sp>
      <p:sp>
        <p:nvSpPr>
          <p:cNvPr id="12" name="Text 10"/>
          <p:cNvSpPr/>
          <p:nvPr/>
        </p:nvSpPr>
        <p:spPr>
          <a:xfrm>
            <a:off x="457200" y="2039112"/>
            <a:ext cx="3840480" cy="219456"/>
          </a:xfrm>
          <a:prstGeom prst="rect">
            <a:avLst/>
          </a:prstGeom>
          <a:noFill/>
          <a:ln/>
        </p:spPr>
        <p:txBody>
          <a:bodyPr wrap="square" lIns="0" tIns="0" rIns="0" bIns="0"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What it is</a:t>
            </a:r>
            <a:endParaRPr lang="en-US" sz="1100" dirty="0"/>
          </a:p>
        </p:txBody>
      </p:sp>
      <p:sp>
        <p:nvSpPr>
          <p:cNvPr id="13" name="Text 11"/>
          <p:cNvSpPr/>
          <p:nvPr/>
        </p:nvSpPr>
        <p:spPr>
          <a:xfrm>
            <a:off x="457200" y="2340864"/>
            <a:ext cx="3840480" cy="59436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A C++ library (with Python bindings) that simulates Clifford circuits at massive scale (thousands of qubits, millions of gates (Gidney, 2021)).</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Used as the quantum device back-end in QI Lab — replacing real QDevice hardware.</a:t>
            </a:r>
            <a:endParaRPr lang="en-US" sz="1100" dirty="0"/>
          </a:p>
        </p:txBody>
      </p:sp>
      <p:sp>
        <p:nvSpPr>
          <p:cNvPr id="14" name="Text 12"/>
          <p:cNvSpPr/>
          <p:nvPr/>
        </p:nvSpPr>
        <p:spPr>
          <a:xfrm>
            <a:off x="457200" y="3068465"/>
            <a:ext cx="3840480" cy="219456"/>
          </a:xfrm>
          <a:prstGeom prst="rect">
            <a:avLst/>
          </a:prstGeom>
          <a:noFill/>
          <a:ln/>
        </p:spPr>
        <p:txBody>
          <a:bodyPr wrap="square" lIns="0" tIns="0" rIns="0" bIns="0"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Key properties</a:t>
            </a:r>
            <a:endParaRPr lang="en-US" sz="1100" dirty="0"/>
          </a:p>
        </p:txBody>
      </p:sp>
      <p:sp>
        <p:nvSpPr>
          <p:cNvPr id="15" name="Text 13"/>
          <p:cNvSpPr/>
          <p:nvPr/>
        </p:nvSpPr>
        <p:spPr>
          <a:xfrm>
            <a:off x="457200" y="3236976"/>
            <a:ext cx="3840480" cy="1005840"/>
          </a:xfrm>
          <a:prstGeom prst="rect">
            <a:avLst/>
          </a:prstGeom>
          <a:noFill/>
          <a:ln/>
        </p:spPr>
        <p:txBody>
          <a:bodyPr wrap="square" rtlCol="0" anchor="ctr"/>
          <a:lstStyle/>
          <a:p>
            <a:pPr marL="342900" indent="-342900">
              <a:spcAft>
                <a:spcPts val="300"/>
              </a:spcAft>
              <a:buSzPct val="100000"/>
              <a:buChar char="•"/>
            </a:pPr>
            <a:r>
              <a:rPr lang="en-US" sz="1100" dirty="0">
                <a:solidFill>
                  <a:srgbClr val="374151"/>
                </a:solidFill>
                <a:latin typeface="Calibri" pitchFamily="34" charset="0"/>
                <a:ea typeface="Calibri" pitchFamily="34" charset="-122"/>
                <a:cs typeface="Calibri" pitchFamily="34" charset="-120"/>
              </a:rPr>
              <a:t>Clifford gates only: CNOT, H, S, CZ, SWAP</a:t>
            </a:r>
            <a:endParaRPr lang="en-US" sz="1100" dirty="0"/>
          </a:p>
          <a:p>
            <a:pPr marL="342900" indent="-342900">
              <a:spcAft>
                <a:spcPts val="300"/>
              </a:spcAft>
              <a:buSzPct val="100000"/>
              <a:buChar char="•"/>
            </a:pPr>
            <a:r>
              <a:rPr lang="en-US" sz="1100" dirty="0">
                <a:solidFill>
                  <a:srgbClr val="374151"/>
                </a:solidFill>
                <a:latin typeface="Calibri" pitchFamily="34" charset="0"/>
                <a:ea typeface="Calibri" pitchFamily="34" charset="-122"/>
                <a:cs typeface="Calibri" pitchFamily="34" charset="-120"/>
              </a:rPr>
              <a:t>Pauli measurements: X, Y, Z</a:t>
            </a:r>
            <a:endParaRPr lang="en-US" sz="1100" dirty="0"/>
          </a:p>
          <a:p>
            <a:pPr marL="342900" indent="-342900">
              <a:spcAft>
                <a:spcPts val="300"/>
              </a:spcAft>
              <a:buSzPct val="100000"/>
              <a:buChar char="•"/>
            </a:pPr>
            <a:r>
              <a:rPr lang="en-US" sz="1100" dirty="0">
                <a:solidFill>
                  <a:srgbClr val="374151"/>
                </a:solidFill>
                <a:latin typeface="Calibri" pitchFamily="34" charset="0"/>
                <a:ea typeface="Calibri" pitchFamily="34" charset="-122"/>
                <a:cs typeface="Calibri" pitchFamily="34" charset="-120"/>
              </a:rPr>
              <a:t>Scales to millions of qubits (O(n²) memory)</a:t>
            </a:r>
            <a:endParaRPr lang="en-US" sz="1100" dirty="0"/>
          </a:p>
          <a:p>
            <a:pPr marL="342900" indent="-342900">
              <a:spcAft>
                <a:spcPts val="300"/>
              </a:spcAft>
              <a:buSzPct val="100000"/>
              <a:buChar char="•"/>
            </a:pPr>
            <a:r>
              <a:rPr lang="en-US" sz="1100" dirty="0">
                <a:solidFill>
                  <a:srgbClr val="374151"/>
                </a:solidFill>
                <a:latin typeface="Calibri" pitchFamily="34" charset="0"/>
                <a:ea typeface="Calibri" pitchFamily="34" charset="-122"/>
                <a:cs typeface="Calibri" pitchFamily="34" charset="-120"/>
              </a:rPr>
              <a:t>T-gate (non-Clifford) not supported</a:t>
            </a:r>
            <a:endParaRPr lang="en-US" sz="1100" dirty="0"/>
          </a:p>
        </p:txBody>
      </p:sp>
      <p:sp>
        <p:nvSpPr>
          <p:cNvPr id="16" name="Shape 14"/>
          <p:cNvSpPr/>
          <p:nvPr/>
        </p:nvSpPr>
        <p:spPr>
          <a:xfrm>
            <a:off x="457200" y="4343400"/>
            <a:ext cx="3017520" cy="237744"/>
          </a:xfrm>
          <a:prstGeom prst="rect">
            <a:avLst/>
          </a:prstGeom>
          <a:solidFill>
            <a:srgbClr val="FFFBEA"/>
          </a:solidFill>
          <a:ln w="12700">
            <a:solidFill>
              <a:srgbClr val="E8D48A"/>
            </a:solidFill>
            <a:prstDash val="solid"/>
          </a:ln>
        </p:spPr>
        <p:txBody>
          <a:bodyPr/>
          <a:lstStyle/>
          <a:p>
            <a:endParaRPr lang="nl-NL"/>
          </a:p>
        </p:txBody>
      </p:sp>
      <p:sp>
        <p:nvSpPr>
          <p:cNvPr id="17" name="Text 15"/>
          <p:cNvSpPr/>
          <p:nvPr/>
        </p:nvSpPr>
        <p:spPr>
          <a:xfrm>
            <a:off x="457200" y="4343400"/>
            <a:ext cx="3017520" cy="237744"/>
          </a:xfrm>
          <a:prstGeom prst="rect">
            <a:avLst/>
          </a:prstGeom>
          <a:noFill/>
          <a:ln/>
        </p:spPr>
        <p:txBody>
          <a:bodyPr wrap="square" rtlCol="0" anchor="ctr"/>
          <a:lstStyle/>
          <a:p>
            <a:pPr marL="0" indent="0" algn="ctr">
              <a:buNone/>
            </a:pPr>
            <a:r>
              <a:rPr lang="en-US" sz="1000" dirty="0">
                <a:solidFill>
                  <a:srgbClr val="8A6800"/>
                </a:solidFill>
                <a:latin typeface="Calibri" pitchFamily="34" charset="0"/>
                <a:ea typeface="Calibri" pitchFamily="34" charset="-122"/>
                <a:cs typeface="Calibri" pitchFamily="34" charset="-120"/>
              </a:rPr>
              <a:t>QI Lab: replaces QDevice hardware</a:t>
            </a:r>
            <a:endParaRPr lang="en-US" sz="1000" dirty="0"/>
          </a:p>
        </p:txBody>
      </p:sp>
      <p:sp>
        <p:nvSpPr>
          <p:cNvPr id="18" name="Shape 16"/>
          <p:cNvSpPr/>
          <p:nvPr/>
        </p:nvSpPr>
        <p:spPr>
          <a:xfrm>
            <a:off x="4498848" y="2514600"/>
            <a:ext cx="457200" cy="0"/>
          </a:xfrm>
          <a:prstGeom prst="line">
            <a:avLst/>
          </a:prstGeom>
          <a:noFill/>
          <a:ln w="19050">
            <a:solidFill>
              <a:srgbClr val="2E5FAD"/>
            </a:solidFill>
            <a:prstDash val="solid"/>
            <a:tailEnd type="none"/>
          </a:ln>
        </p:spPr>
        <p:txBody>
          <a:bodyPr/>
          <a:lstStyle/>
          <a:p>
            <a:endParaRPr lang="nl-NL"/>
          </a:p>
        </p:txBody>
      </p:sp>
      <p:sp>
        <p:nvSpPr>
          <p:cNvPr id="19" name="Text 17"/>
          <p:cNvSpPr/>
          <p:nvPr/>
        </p:nvSpPr>
        <p:spPr>
          <a:xfrm>
            <a:off x="4462272" y="2340864"/>
            <a:ext cx="548640" cy="182880"/>
          </a:xfrm>
          <a:prstGeom prst="rect">
            <a:avLst/>
          </a:prstGeom>
          <a:noFill/>
          <a:ln/>
        </p:spPr>
        <p:txBody>
          <a:bodyPr wrap="square" lIns="0" tIns="0" rIns="0" bIns="0" rtlCol="0" anchor="ctr"/>
          <a:lstStyle/>
          <a:p>
            <a:pPr marL="0" indent="0" algn="ctr">
              <a:buNone/>
            </a:pPr>
            <a:r>
              <a:rPr lang="en-US" sz="800" b="1" dirty="0">
                <a:solidFill>
                  <a:srgbClr val="2E5FAD"/>
                </a:solidFill>
                <a:latin typeface="Calibri" pitchFamily="34" charset="0"/>
                <a:ea typeface="Calibri" pitchFamily="34" charset="-122"/>
                <a:cs typeface="Calibri" pitchFamily="34" charset="-120"/>
              </a:rPr>
              <a:t>uses</a:t>
            </a:r>
            <a:endParaRPr lang="en-US" sz="800" dirty="0"/>
          </a:p>
        </p:txBody>
      </p:sp>
      <p:sp>
        <p:nvSpPr>
          <p:cNvPr id="20" name="Shape 18"/>
          <p:cNvSpPr/>
          <p:nvPr/>
        </p:nvSpPr>
        <p:spPr>
          <a:xfrm>
            <a:off x="4983480" y="1115568"/>
            <a:ext cx="3840480" cy="3566160"/>
          </a:xfrm>
          <a:prstGeom prst="rect">
            <a:avLst/>
          </a:prstGeom>
          <a:solidFill>
            <a:srgbClr val="F0F5FC"/>
          </a:solidFill>
          <a:ln w="12700">
            <a:solidFill>
              <a:srgbClr val="C8D9F0"/>
            </a:solidFill>
            <a:prstDash val="solid"/>
          </a:ln>
        </p:spPr>
        <p:txBody>
          <a:bodyPr/>
          <a:lstStyle/>
          <a:p>
            <a:endParaRPr lang="nl-NL"/>
          </a:p>
        </p:txBody>
      </p:sp>
      <p:sp>
        <p:nvSpPr>
          <p:cNvPr id="21" name="Shape 19"/>
          <p:cNvSpPr/>
          <p:nvPr/>
        </p:nvSpPr>
        <p:spPr>
          <a:xfrm>
            <a:off x="4983480" y="1115568"/>
            <a:ext cx="45720" cy="3566160"/>
          </a:xfrm>
          <a:prstGeom prst="rect">
            <a:avLst/>
          </a:prstGeom>
          <a:solidFill>
            <a:srgbClr val="2E5FAD"/>
          </a:solidFill>
          <a:ln w="12700">
            <a:solidFill>
              <a:srgbClr val="2E5FAD"/>
            </a:solidFill>
            <a:prstDash val="solid"/>
          </a:ln>
        </p:spPr>
        <p:txBody>
          <a:bodyPr/>
          <a:lstStyle/>
          <a:p>
            <a:endParaRPr lang="nl-NL"/>
          </a:p>
        </p:txBody>
      </p:sp>
      <p:sp>
        <p:nvSpPr>
          <p:cNvPr id="22" name="Text 20"/>
          <p:cNvSpPr/>
          <p:nvPr/>
        </p:nvSpPr>
        <p:spPr>
          <a:xfrm>
            <a:off x="5120640" y="1207008"/>
            <a:ext cx="3657600" cy="201168"/>
          </a:xfrm>
          <a:prstGeom prst="rect">
            <a:avLst/>
          </a:prstGeom>
          <a:noFill/>
          <a:ln/>
        </p:spPr>
        <p:txBody>
          <a:bodyPr wrap="square" lIns="0" tIns="0" rIns="0" bIns="0" rtlCol="0" anchor="ctr"/>
          <a:lstStyle/>
          <a:p>
            <a:pPr marL="0" indent="0">
              <a:buNone/>
            </a:pPr>
            <a:r>
              <a:rPr lang="en-US" sz="800" b="1" kern="0" spc="300" dirty="0">
                <a:solidFill>
                  <a:srgbClr val="2E5FAD"/>
                </a:solidFill>
                <a:latin typeface="Calibri" pitchFamily="34" charset="0"/>
                <a:ea typeface="Calibri" pitchFamily="34" charset="-122"/>
                <a:cs typeface="Calibri" pitchFamily="34" charset="-120"/>
              </a:rPr>
              <a:t>INTERNAL REPRESENTATION</a:t>
            </a:r>
            <a:endParaRPr lang="en-US" sz="800" dirty="0"/>
          </a:p>
        </p:txBody>
      </p:sp>
      <p:sp>
        <p:nvSpPr>
          <p:cNvPr id="23" name="Text 21"/>
          <p:cNvSpPr/>
          <p:nvPr/>
        </p:nvSpPr>
        <p:spPr>
          <a:xfrm>
            <a:off x="5120640" y="1426464"/>
            <a:ext cx="3566160" cy="347472"/>
          </a:xfrm>
          <a:prstGeom prst="rect">
            <a:avLst/>
          </a:prstGeom>
          <a:noFill/>
          <a:ln/>
        </p:spPr>
        <p:txBody>
          <a:bodyPr wrap="square" lIns="0" tIns="0" rIns="0" bIns="0" rtlCol="0" anchor="ctr"/>
          <a:lstStyle/>
          <a:p>
            <a:pPr marL="0" indent="0">
              <a:buNone/>
            </a:pPr>
            <a:r>
              <a:rPr lang="en-US" sz="1800" b="1" dirty="0">
                <a:solidFill>
                  <a:srgbClr val="1A2E5A"/>
                </a:solidFill>
                <a:latin typeface="Calibri" pitchFamily="34" charset="0"/>
                <a:ea typeface="Calibri" pitchFamily="34" charset="-122"/>
                <a:cs typeface="Calibri" pitchFamily="34" charset="-120"/>
              </a:rPr>
              <a:t>Stabilizer tableau</a:t>
            </a:r>
            <a:endParaRPr lang="en-US" sz="1800" dirty="0"/>
          </a:p>
        </p:txBody>
      </p:sp>
      <p:sp>
        <p:nvSpPr>
          <p:cNvPr id="24" name="Text 22"/>
          <p:cNvSpPr/>
          <p:nvPr/>
        </p:nvSpPr>
        <p:spPr>
          <a:xfrm>
            <a:off x="5120640" y="1792224"/>
            <a:ext cx="3566160" cy="2286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Compact binary matrix encoding the quantum state</a:t>
            </a:r>
            <a:endParaRPr lang="en-US" sz="1100" dirty="0"/>
          </a:p>
        </p:txBody>
      </p:sp>
      <p:sp>
        <p:nvSpPr>
          <p:cNvPr id="25" name="Text 23"/>
          <p:cNvSpPr/>
          <p:nvPr/>
        </p:nvSpPr>
        <p:spPr>
          <a:xfrm>
            <a:off x="5120640" y="2103120"/>
            <a:ext cx="3566160" cy="219456"/>
          </a:xfrm>
          <a:prstGeom prst="rect">
            <a:avLst/>
          </a:prstGeom>
          <a:noFill/>
          <a:ln/>
        </p:spPr>
        <p:txBody>
          <a:bodyPr wrap="square" lIns="0" tIns="0" rIns="0" bIns="0"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What it is</a:t>
            </a:r>
            <a:endParaRPr lang="en-US" sz="1100" dirty="0"/>
          </a:p>
        </p:txBody>
      </p:sp>
      <p:sp>
        <p:nvSpPr>
          <p:cNvPr id="26" name="Text 24"/>
          <p:cNvSpPr/>
          <p:nvPr/>
        </p:nvSpPr>
        <p:spPr>
          <a:xfrm>
            <a:off x="5120640" y="2340864"/>
            <a:ext cx="3566160" cy="594360"/>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Instead of a 2ⁿ state vector, Stim tracks the n Pauli operators that stabilize the state.</a:t>
            </a: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Each row = one stabilizer generator. Clifford gates = row operations on this matrix.</a:t>
            </a:r>
            <a:endParaRPr lang="en-US" sz="1100" dirty="0"/>
          </a:p>
        </p:txBody>
      </p:sp>
      <p:sp>
        <p:nvSpPr>
          <p:cNvPr id="27" name="Text 25"/>
          <p:cNvSpPr/>
          <p:nvPr/>
        </p:nvSpPr>
        <p:spPr>
          <a:xfrm>
            <a:off x="5120640" y="2999232"/>
            <a:ext cx="3566160" cy="219456"/>
          </a:xfrm>
          <a:prstGeom prst="rect">
            <a:avLst/>
          </a:prstGeom>
          <a:noFill/>
          <a:ln/>
        </p:spPr>
        <p:txBody>
          <a:bodyPr wrap="square" lIns="0" tIns="0" rIns="0" bIns="0"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Structure (3-qubit example)</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120640" y="3246120"/>
          <a:ext cx="3566160" cy="1036320"/>
        </p:xfrm>
        <a:graphic>
          <a:graphicData uri="http://schemas.openxmlformats.org/drawingml/2006/table">
            <a:tbl>
              <a:tblPr/>
              <a:tblGrid>
                <a:gridCol w="5943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256032">
                <a:tc>
                  <a:txBody>
                    <a:bodyPr/>
                    <a:lstStyle/>
                    <a:p>
                      <a:pPr marL="0" indent="0" algn="ctr">
                        <a:buNone/>
                      </a:pPr>
                      <a:r>
                        <a:rPr lang="en-US" sz="1100" b="1" dirty="0">
                          <a:solidFill>
                            <a:srgbClr val="F5C518"/>
                          </a:solidFill>
                          <a:latin typeface="Calibri" pitchFamily="34" charset="0"/>
                          <a:ea typeface="Calibri" pitchFamily="34" charset="-122"/>
                          <a:cs typeface="Calibri" pitchFamily="34" charset="-120"/>
                        </a:rPr>
                        <a:t>sign</a:t>
                      </a:r>
                      <a:endParaRPr lang="en-US" sz="11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1A2E5A"/>
                    </a:solidFill>
                  </a:tcPr>
                </a:tc>
                <a:tc>
                  <a:txBody>
                    <a:bodyPr/>
                    <a:lstStyle/>
                    <a:p>
                      <a:pPr marL="0" indent="0" algn="ctr">
                        <a:buNone/>
                      </a:pPr>
                      <a:r>
                        <a:rPr lang="en-US" sz="1100" b="1" dirty="0">
                          <a:solidFill>
                            <a:srgbClr val="9DB8E0"/>
                          </a:solidFill>
                          <a:latin typeface="Calibri" pitchFamily="34" charset="0"/>
                          <a:ea typeface="Calibri" pitchFamily="34" charset="-122"/>
                          <a:cs typeface="Calibri" pitchFamily="34" charset="-120"/>
                        </a:rPr>
                        <a:t>X₁ X₂ X₃</a:t>
                      </a:r>
                      <a:endParaRPr lang="en-US" sz="11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1A2E5A"/>
                    </a:solidFill>
                  </a:tcPr>
                </a:tc>
                <a:tc>
                  <a:txBody>
                    <a:bodyPr/>
                    <a:lstStyle/>
                    <a:p>
                      <a:pPr marL="0" indent="0" algn="ctr">
                        <a:buNone/>
                      </a:pPr>
                      <a:r>
                        <a:rPr lang="en-US" sz="1100" b="1" dirty="0">
                          <a:solidFill>
                            <a:srgbClr val="9DB8E0"/>
                          </a:solidFill>
                          <a:latin typeface="Calibri" pitchFamily="34" charset="0"/>
                          <a:ea typeface="Calibri" pitchFamily="34" charset="-122"/>
                          <a:cs typeface="Calibri" pitchFamily="34" charset="-120"/>
                        </a:rPr>
                        <a:t>Z₁ Z₂ Z₃</a:t>
                      </a:r>
                      <a:endParaRPr lang="en-US" sz="11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solidFill>
                      <a:srgbClr val="1A2E5A"/>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374151"/>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100" dirty="0">
                          <a:solidFill>
                            <a:srgbClr val="2E5FAD"/>
                          </a:solidFill>
                          <a:latin typeface="Courier New" pitchFamily="34" charset="0"/>
                          <a:ea typeface="Courier New" pitchFamily="34" charset="-122"/>
                          <a:cs typeface="Courier New" pitchFamily="34" charset="-120"/>
                        </a:rPr>
                        <a:t>1  0  0</a:t>
                      </a:r>
                      <a:endParaRPr lang="en-US" sz="1100" dirty="0">
                        <a:latin typeface="Courier New" charset="0"/>
                        <a:ea typeface="Courier New" charset="0"/>
                        <a:cs typeface="Courier New"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100" dirty="0">
                          <a:solidFill>
                            <a:srgbClr val="DC2626"/>
                          </a:solidFill>
                          <a:latin typeface="Courier New" pitchFamily="34" charset="0"/>
                          <a:ea typeface="Courier New" pitchFamily="34" charset="-122"/>
                          <a:cs typeface="Courier New" pitchFamily="34" charset="-120"/>
                        </a:rPr>
                        <a:t>0  0  0</a:t>
                      </a:r>
                      <a:endParaRPr lang="en-US" sz="1100" dirty="0">
                        <a:latin typeface="Courier New" charset="0"/>
                        <a:ea typeface="Courier New" charset="0"/>
                        <a:cs typeface="Courier New"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374151"/>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100" dirty="0">
                          <a:solidFill>
                            <a:srgbClr val="2E5FAD"/>
                          </a:solidFill>
                          <a:latin typeface="Courier New" pitchFamily="34" charset="0"/>
                          <a:ea typeface="Courier New" pitchFamily="34" charset="-122"/>
                          <a:cs typeface="Courier New" pitchFamily="34" charset="-120"/>
                        </a:rPr>
                        <a:t>0  1  0</a:t>
                      </a:r>
                      <a:endParaRPr lang="en-US" sz="1100" dirty="0">
                        <a:latin typeface="Courier New" charset="0"/>
                        <a:ea typeface="Courier New" charset="0"/>
                        <a:cs typeface="Courier New"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100" dirty="0">
                          <a:solidFill>
                            <a:srgbClr val="DC2626"/>
                          </a:solidFill>
                          <a:latin typeface="Courier New" pitchFamily="34" charset="0"/>
                          <a:ea typeface="Courier New" pitchFamily="34" charset="-122"/>
                          <a:cs typeface="Courier New" pitchFamily="34" charset="-120"/>
                        </a:rPr>
                        <a:t>0  0  0</a:t>
                      </a:r>
                      <a:endParaRPr lang="en-US" sz="1100" dirty="0">
                        <a:latin typeface="Courier New" charset="0"/>
                        <a:ea typeface="Courier New" charset="0"/>
                        <a:cs typeface="Courier New"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374151"/>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100" dirty="0">
                          <a:solidFill>
                            <a:srgbClr val="2E5FAD"/>
                          </a:solidFill>
                          <a:latin typeface="Courier New" pitchFamily="34" charset="0"/>
                          <a:ea typeface="Courier New" pitchFamily="34" charset="-122"/>
                          <a:cs typeface="Courier New" pitchFamily="34" charset="-120"/>
                        </a:rPr>
                        <a:t>0  0  1</a:t>
                      </a:r>
                      <a:endParaRPr lang="en-US" sz="1100" dirty="0">
                        <a:latin typeface="Courier New" charset="0"/>
                        <a:ea typeface="Courier New" charset="0"/>
                        <a:cs typeface="Courier New"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tc>
                  <a:txBody>
                    <a:bodyPr/>
                    <a:lstStyle/>
                    <a:p>
                      <a:pPr marL="0" indent="0" algn="ctr">
                        <a:buNone/>
                      </a:pPr>
                      <a:r>
                        <a:rPr lang="en-US" sz="1100" dirty="0">
                          <a:solidFill>
                            <a:srgbClr val="DC2626"/>
                          </a:solidFill>
                          <a:latin typeface="Courier New" pitchFamily="34" charset="0"/>
                          <a:ea typeface="Courier New" pitchFamily="34" charset="-122"/>
                          <a:cs typeface="Courier New" pitchFamily="34" charset="-120"/>
                        </a:rPr>
                        <a:t>0  0  0</a:t>
                      </a:r>
                      <a:endParaRPr lang="en-US" sz="1100" dirty="0">
                        <a:latin typeface="Courier New" charset="0"/>
                        <a:ea typeface="Courier New" charset="0"/>
                        <a:cs typeface="Courier New" charset="0"/>
                      </a:endParaRPr>
                    </a:p>
                  </a:txBody>
                  <a:tcPr>
                    <a:lnL w="6350" cap="flat" cmpd="sng" algn="ctr">
                      <a:solidFill>
                        <a:srgbClr val="D0DFF2"/>
                      </a:solidFill>
                      <a:prstDash val="solid"/>
                      <a:round/>
                      <a:headEnd type="none" w="med" len="med"/>
                      <a:tailEnd type="none" w="med" len="med"/>
                    </a:lnL>
                    <a:lnR w="6350" cap="flat" cmpd="sng" algn="ctr">
                      <a:solidFill>
                        <a:srgbClr val="D0DFF2"/>
                      </a:solidFill>
                      <a:prstDash val="solid"/>
                      <a:round/>
                      <a:headEnd type="none" w="med" len="med"/>
                      <a:tailEnd type="none" w="med" len="med"/>
                    </a:lnR>
                    <a:lnT w="6350" cap="flat" cmpd="sng" algn="ctr">
                      <a:solidFill>
                        <a:srgbClr val="D0DFF2"/>
                      </a:solidFill>
                      <a:prstDash val="solid"/>
                      <a:round/>
                      <a:headEnd type="none" w="med" len="med"/>
                      <a:tailEnd type="none" w="med" len="med"/>
                    </a:lnT>
                    <a:lnB w="6350" cap="flat" cmpd="sng" algn="ctr">
                      <a:solidFill>
                        <a:srgbClr val="D0DFF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9" name="Text 26"/>
          <p:cNvSpPr/>
          <p:nvPr/>
        </p:nvSpPr>
        <p:spPr>
          <a:xfrm>
            <a:off x="5120640" y="4315968"/>
            <a:ext cx="3566160" cy="201168"/>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Gate applied → row ops (XOR, swap)  ·  Measure → Gaussian elimination</a:t>
            </a:r>
            <a:endParaRPr lang="en-US" sz="950" dirty="0"/>
          </a:p>
        </p:txBody>
      </p:sp>
      <p:sp>
        <p:nvSpPr>
          <p:cNvPr id="30" name="Shape 27"/>
          <p:cNvSpPr/>
          <p:nvPr/>
        </p:nvSpPr>
        <p:spPr>
          <a:xfrm>
            <a:off x="5120640" y="4544568"/>
            <a:ext cx="2194560" cy="237744"/>
          </a:xfrm>
          <a:prstGeom prst="rect">
            <a:avLst/>
          </a:prstGeom>
          <a:solidFill>
            <a:srgbClr val="FFFBEA"/>
          </a:solidFill>
          <a:ln w="12700">
            <a:solidFill>
              <a:srgbClr val="E8D48A"/>
            </a:solidFill>
            <a:prstDash val="solid"/>
          </a:ln>
        </p:spPr>
        <p:txBody>
          <a:bodyPr/>
          <a:lstStyle/>
          <a:p>
            <a:endParaRPr lang="nl-NL"/>
          </a:p>
        </p:txBody>
      </p:sp>
      <p:sp>
        <p:nvSpPr>
          <p:cNvPr id="31" name="Text 28"/>
          <p:cNvSpPr/>
          <p:nvPr/>
        </p:nvSpPr>
        <p:spPr>
          <a:xfrm>
            <a:off x="5120640" y="4544568"/>
            <a:ext cx="2194560" cy="237744"/>
          </a:xfrm>
          <a:prstGeom prst="rect">
            <a:avLst/>
          </a:prstGeom>
          <a:noFill/>
          <a:ln/>
        </p:spPr>
        <p:txBody>
          <a:bodyPr wrap="square" rtlCol="0" anchor="ctr"/>
          <a:lstStyle/>
          <a:p>
            <a:pPr marL="0" indent="0" algn="ctr">
              <a:buNone/>
            </a:pPr>
            <a:r>
              <a:rPr lang="en-US" sz="1000" dirty="0">
                <a:solidFill>
                  <a:srgbClr val="8A6800"/>
                </a:solidFill>
                <a:latin typeface="Calibri" pitchFamily="34" charset="0"/>
                <a:ea typeface="Calibri" pitchFamily="34" charset="-122"/>
                <a:cs typeface="Calibri" pitchFamily="34" charset="-120"/>
              </a:rPr>
              <a:t>Scales as O(n²) not O(2ⁿ)</a:t>
            </a:r>
            <a:endParaRPr lang="en-US" sz="1000" dirty="0"/>
          </a:p>
        </p:txBody>
      </p:sp>
      <p:sp>
        <p:nvSpPr>
          <p:cNvPr id="32" name="Shape 29"/>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33" name="Text 30"/>
          <p:cNvSpPr/>
          <p:nvPr/>
        </p:nvSpPr>
        <p:spPr>
          <a:xfrm>
            <a:off x="365760" y="4901184"/>
            <a:ext cx="4572000" cy="201168"/>
          </a:xfrm>
          <a:prstGeom prst="rect">
            <a:avLst/>
          </a:prstGeom>
          <a:noFill/>
          <a:ln/>
        </p:spPr>
        <p:txBody>
          <a:bodyPr wrap="square" lIns="0" tIns="0" rIns="0" bIns="0" rtlCol="0" anchor="ctr"/>
          <a:lstStyle/>
          <a:p>
            <a:r>
              <a:rPr lang="pt-BR" sz="800" dirty="0"/>
              <a:t>Gidney, C. (2021). Stim: A fast stabilizer circuit simulator. Quantum, 5, 497. https://doi.org/10.22331/q-2021-07-06-497</a:t>
            </a:r>
            <a:endParaRPr lang="nl-NL" sz="800" dirty="0"/>
          </a:p>
        </p:txBody>
      </p:sp>
      <p:sp>
        <p:nvSpPr>
          <p:cNvPr id="34" name="Text 31"/>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ea typeface="Calibri" pitchFamily="34" charset="-122"/>
                <a:cs typeface="Calibri" pitchFamily="34" charset="-120"/>
              </a:rPr>
              <a:t>07 / 32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E5A"/>
        </a:solidFill>
        <a:effectLst/>
      </p:bgPr>
    </p:bg>
    <p:spTree>
      <p:nvGrpSpPr>
        <p:cNvPr id="1" name=""/>
        <p:cNvGrpSpPr/>
        <p:nvPr/>
      </p:nvGrpSpPr>
      <p:grpSpPr>
        <a:xfrm>
          <a:off x="0" y="0"/>
          <a:ext cx="0" cy="0"/>
          <a:chOff x="0" y="0"/>
          <a:chExt cx="0" cy="0"/>
        </a:xfrm>
      </p:grpSpPr>
      <p:sp>
        <p:nvSpPr>
          <p:cNvPr id="2" name="Shape_YellowBar"/>
          <p:cNvSpPr/>
          <p:nvPr/>
        </p:nvSpPr>
        <p:spPr>
          <a:xfrm>
            <a:off x="0" y="0"/>
            <a:ext cx="274320" cy="5143500"/>
          </a:xfrm>
          <a:prstGeom prst="rect">
            <a:avLst/>
          </a:prstGeom>
          <a:solidFill>
            <a:srgbClr val="F5C518"/>
          </a:solidFill>
          <a:ln w="12700">
            <a:solidFill>
              <a:srgbClr val="F5C518"/>
            </a:solidFill>
            <a:prstDash val="solid"/>
          </a:ln>
        </p:spPr>
        <p:txBody>
          <a:bodyPr/>
          <a:lstStyle/>
          <a:p>
            <a:endParaRPr lang="nl-NL"/>
          </a:p>
        </p:txBody>
      </p:sp>
      <p:sp>
        <p:nvSpPr>
          <p:cNvPr id="3" name="Text_Num"/>
          <p:cNvSpPr/>
          <p:nvPr/>
        </p:nvSpPr>
        <p:spPr>
          <a:xfrm>
            <a:off x="548640" y="1188720"/>
            <a:ext cx="2286000" cy="1280160"/>
          </a:xfrm>
          <a:prstGeom prst="rect">
            <a:avLst/>
          </a:prstGeom>
          <a:noFill/>
          <a:ln/>
        </p:spPr>
        <p:txBody>
          <a:bodyPr wrap="square" lIns="0" tIns="0" rIns="0" bIns="0" rtlCol="0" anchor="ctr"/>
          <a:lstStyle/>
          <a:p>
            <a:pPr marL="0" indent="0">
              <a:buNone/>
            </a:pPr>
            <a:r>
              <a:rPr lang="en-US" sz="8000" b="1" dirty="0">
                <a:solidFill>
                  <a:srgbClr val="253D78"/>
                </a:solidFill>
                <a:latin typeface="Calibri" pitchFamily="34" charset="0"/>
              </a:rPr>
              <a:t>04</a:t>
            </a:r>
          </a:p>
        </p:txBody>
      </p:sp>
      <p:sp>
        <p:nvSpPr>
          <p:cNvPr id="4" name="Text_Title"/>
          <p:cNvSpPr/>
          <p:nvPr/>
        </p:nvSpPr>
        <p:spPr>
          <a:xfrm>
            <a:off x="548640" y="2377440"/>
            <a:ext cx="777240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rPr>
              <a:t>Workshop</a:t>
            </a:r>
          </a:p>
        </p:txBody>
      </p:sp>
      <p:sp>
        <p:nvSpPr>
          <p:cNvPr id="5" name="Text_Sub"/>
          <p:cNvSpPr/>
          <p:nvPr/>
        </p:nvSpPr>
        <p:spPr>
          <a:xfrm>
            <a:off x="548640" y="3090672"/>
            <a:ext cx="6400800" cy="365760"/>
          </a:xfrm>
          <a:prstGeom prst="rect">
            <a:avLst/>
          </a:prstGeom>
          <a:noFill/>
          <a:ln/>
        </p:spPr>
        <p:txBody>
          <a:bodyPr wrap="square" lIns="0" tIns="0" rIns="0" bIns="0" rtlCol="0" anchor="ctr"/>
          <a:lstStyle/>
          <a:p>
            <a:pPr marL="0" indent="0">
              <a:buNone/>
            </a:pPr>
            <a:r>
              <a:rPr lang="en-US" sz="1300" dirty="0">
                <a:solidFill>
                  <a:srgbClr val="9DB8E0"/>
                </a:solidFill>
                <a:latin typeface="Calibri" pitchFamily="34" charset="0"/>
              </a:rPr>
              <a:t>Hands-on: build, configure, and run QiLab from scratch</a:t>
            </a:r>
          </a:p>
        </p:txBody>
      </p:sp>
      <p:sp>
        <p:nvSpPr>
          <p:cNvPr id="97" name="Shape_Footer_BG"/>
          <p:cNvSpPr/>
          <p:nvPr/>
        </p:nvSpPr>
        <p:spPr>
          <a:xfrm>
            <a:off x="0" y="4892040"/>
            <a:ext cx="9144000" cy="251460"/>
          </a:xfrm>
          <a:prstGeom prst="rect">
            <a:avLst/>
          </a:prstGeom>
          <a:solidFill>
            <a:srgbClr val="0F1D3A"/>
          </a:solidFill>
          <a:ln w="12700">
            <a:solidFill>
              <a:srgbClr val="0F1D3A"/>
            </a:solidFill>
            <a:prstDash val="solid"/>
          </a:ln>
        </p:spPr>
        <p:txBody>
          <a:bodyPr/>
          <a:lstStyle/>
          <a:p>
            <a:endParaRPr lang="nl-NL"/>
          </a:p>
        </p:txBody>
      </p:sp>
      <p:sp>
        <p:nvSpPr>
          <p:cNvPr id="98" name="Text_Footer_Left"/>
          <p:cNvSpPr/>
          <p:nvPr/>
        </p:nvSpPr>
        <p:spPr>
          <a:xfrm>
            <a:off x="365760" y="4901184"/>
            <a:ext cx="8229600" cy="201168"/>
          </a:xfrm>
          <a:prstGeom prst="rect">
            <a:avLst/>
          </a:prstGeom>
          <a:noFill/>
          <a:ln/>
        </p:spPr>
        <p:txBody>
          <a:bodyPr wrap="square" lIns="0" tIns="0" rIns="0" bIns="0" rtlCol="0" anchor="ctr"/>
          <a:lstStyle/>
          <a:p>
            <a:pPr marL="0" indent="0">
              <a:buNone/>
            </a:pPr>
            <a:r>
              <a:rPr lang="en-US" sz="800" i="1" dirty="0">
                <a:solidFill>
                  <a:srgbClr val="4A6A9A"/>
                </a:solidFill>
                <a:latin typeface="Calibri" pitchFamily="34" charset="0"/>
              </a:rPr>
              <a:t>Internal use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_Heade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rPr>
              <a:t>HW BOM — Hardware Bill of Materials</a:t>
            </a:r>
          </a:p>
        </p:txBody>
      </p:sp>
      <p:sp>
        <p:nvSpPr>
          <p:cNvPr id="6" name="Text_Subtitle"/>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rPr>
              <a:t>All components needed to build a QiLab setup</a:t>
            </a:r>
          </a:p>
        </p:txBody>
      </p:sp>
      <p:sp>
        <p:nvSpPr>
          <p:cNvPr id="10" name="Card_BG_10"/>
          <p:cNvSpPr/>
          <p:nvPr/>
        </p:nvSpPr>
        <p:spPr>
          <a:xfrm>
            <a:off x="320040" y="1060000"/>
            <a:ext cx="4229100" cy="37700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1" name="Card_Bar_10"/>
          <p:cNvSpPr/>
          <p:nvPr/>
        </p:nvSpPr>
        <p:spPr>
          <a:xfrm>
            <a:off x="320040" y="1060000"/>
            <a:ext cx="4229100" cy="36576"/>
          </a:xfrm>
          <a:prstGeom prst="rect">
            <a:avLst/>
          </a:prstGeom>
          <a:solidFill>
            <a:srgbClr val="F5C518"/>
          </a:solidFill>
          <a:ln w="12700">
            <a:solidFill>
              <a:srgbClr val="F5C518"/>
            </a:solidFill>
            <a:prstDash val="solid"/>
          </a:ln>
        </p:spPr>
        <p:txBody>
          <a:bodyPr/>
          <a:lstStyle/>
          <a:p>
            <a:endParaRPr lang="nl-NL"/>
          </a:p>
        </p:txBody>
      </p:sp>
      <p:sp>
        <p:nvSpPr>
          <p:cNvPr id="12" name="TB_12"/>
          <p:cNvSpPr/>
          <p:nvPr/>
        </p:nvSpPr>
        <p:spPr>
          <a:xfrm>
            <a:off x="457200" y="1140000"/>
            <a:ext cx="4046220" cy="3670000"/>
          </a:xfrm>
          <a:prstGeom prst="rect">
            <a:avLst/>
          </a:prstGeom>
          <a:noFill/>
          <a:ln/>
        </p:spPr>
        <p:txBody>
          <a:bodyPr wrap="square" rtlCol="0" anchor="t"/>
          <a:lstStyle/>
          <a:p>
            <a:pPr marL="0" indent="0">
              <a:buNone/>
            </a:pPr>
            <a:r>
              <a:rPr lang="en-US" sz="1400" b="1" dirty="0">
                <a:solidFill>
                  <a:srgbClr val="FFFFFF"/>
                </a:solidFill>
                <a:latin typeface="Calibri" pitchFamily="34" charset="0"/>
              </a:rPr>
              <a:t>QNodeOS Hardware</a:t>
            </a:r>
          </a:p>
          <a:p>
            <a:pPr marL="0" indent="0">
              <a:buNone/>
            </a:pPr>
            <a:r>
              <a:rPr lang="en-US" sz="500" dirty="0">
                <a:solidFill>
                  <a:srgbClr val="FFFFFF"/>
                </a:solidFill>
                <a:latin typeface="Calibri" pitchFamily="34" charset="0"/>
              </a:rPr>
              <a:t> </a:t>
            </a:r>
          </a:p>
          <a:p>
            <a:pPr marL="0" indent="0">
              <a:buNone/>
            </a:pPr>
            <a:r>
              <a:rPr lang="en-US" sz="1000" b="1" dirty="0">
                <a:solidFill>
                  <a:srgbClr val="F5C518"/>
                </a:solidFill>
                <a:latin typeface="Calibri" pitchFamily="34" charset="0"/>
              </a:rPr>
              <a:t>HW-QN-001  MicroZed 7020 Industrial SOM</a:t>
            </a:r>
          </a:p>
          <a:p>
            <a:pPr marL="0" indent="0">
              <a:buNone/>
            </a:pPr>
            <a:r>
              <a:rPr lang="en-US" sz="900" dirty="0">
                <a:solidFill>
                  <a:srgbClr val="CBD5E1"/>
                </a:solidFill>
                <a:latin typeface="Calibri" pitchFamily="34" charset="0"/>
              </a:rPr>
              <a:t>Zynq-7000 XC7Z020 · 1GB DDR3 · GbE · USB 2.0 · Qty: 2</a:t>
            </a:r>
          </a:p>
          <a:p>
            <a:pPr marL="0" indent="0">
              <a:buNone/>
            </a:pPr>
            <a:r>
              <a:rPr lang="en-US" sz="400" dirty="0">
                <a:solidFill>
                  <a:srgbClr val="FFFFFF"/>
                </a:solidFill>
                <a:latin typeface="Calibri" pitchFamily="34" charset="0"/>
              </a:rPr>
              <a:t> </a:t>
            </a:r>
          </a:p>
          <a:p>
            <a:pPr marL="0" indent="0">
              <a:buNone/>
            </a:pPr>
            <a:r>
              <a:rPr lang="en-US" sz="1000" b="1" dirty="0">
                <a:solidFill>
                  <a:srgbClr val="F5C518"/>
                </a:solidFill>
                <a:latin typeface="Calibri" pitchFamily="34" charset="0"/>
              </a:rPr>
              <a:t>HW-QN-002  JTAG-HS2 Programming Cable</a:t>
            </a:r>
          </a:p>
          <a:p>
            <a:pPr marL="0" indent="0">
              <a:buNone/>
            </a:pPr>
            <a:r>
              <a:rPr lang="en-US" sz="900" dirty="0">
                <a:solidFill>
                  <a:srgbClr val="CBD5E1"/>
                </a:solidFill>
                <a:latin typeface="Calibri" pitchFamily="34" charset="0"/>
              </a:rPr>
              <a:t>High-speed JTAG/SPI cable · Digilent 410-249 · Qty: 1</a:t>
            </a:r>
          </a:p>
          <a:p>
            <a:pPr marL="0" indent="0">
              <a:buNone/>
            </a:pPr>
            <a:r>
              <a:rPr lang="en-US" sz="400" dirty="0">
                <a:solidFill>
                  <a:srgbClr val="FFFFFF"/>
                </a:solidFill>
                <a:latin typeface="Calibri" pitchFamily="34" charset="0"/>
              </a:rPr>
              <a:t> </a:t>
            </a:r>
          </a:p>
          <a:p>
            <a:pPr marL="0" indent="0">
              <a:buNone/>
            </a:pPr>
            <a:r>
              <a:rPr lang="en-US" sz="1200" b="1" dirty="0">
                <a:solidFill>
                  <a:srgbClr val="FFFFFF"/>
                </a:solidFill>
                <a:latin typeface="Calibri" pitchFamily="34" charset="0"/>
              </a:rPr>
              <a:t>QiLab Hardware</a:t>
            </a:r>
          </a:p>
          <a:p>
            <a:pPr marL="0" indent="0">
              <a:buNone/>
            </a:pPr>
            <a:r>
              <a:rPr lang="en-US" sz="400" dirty="0">
                <a:solidFill>
                  <a:srgbClr val="FFFFFF"/>
                </a:solidFill>
                <a:latin typeface="Calibri" pitchFamily="34" charset="0"/>
              </a:rPr>
              <a:t> </a:t>
            </a:r>
          </a:p>
          <a:p>
            <a:pPr marL="0" indent="0">
              <a:buNone/>
            </a:pPr>
            <a:r>
              <a:rPr lang="en-US" sz="1000" b="1" dirty="0">
                <a:solidFill>
                  <a:srgbClr val="F5C518"/>
                </a:solidFill>
                <a:latin typeface="Calibri" pitchFamily="34" charset="0"/>
              </a:rPr>
              <a:t>HW-QL-001  Raspberry Pi 5 8GB</a:t>
            </a:r>
          </a:p>
          <a:p>
            <a:pPr marL="0" indent="0">
              <a:buNone/>
            </a:pPr>
            <a:r>
              <a:rPr lang="en-US" sz="900" dirty="0">
                <a:solidFill>
                  <a:srgbClr val="CBD5E1"/>
                </a:solidFill>
                <a:latin typeface="Calibri" pitchFamily="34" charset="0"/>
              </a:rPr>
              <a:t>ARM Cortex-A76 · 2.4GHz · 8GB RAM · Qty: 1</a:t>
            </a:r>
          </a:p>
          <a:p>
            <a:pPr marL="0" indent="0">
              <a:buNone/>
            </a:pPr>
            <a:r>
              <a:rPr lang="en-US" sz="400" dirty="0">
                <a:solidFill>
                  <a:srgbClr val="FFFFFF"/>
                </a:solidFill>
                <a:latin typeface="Calibri" pitchFamily="34" charset="0"/>
              </a:rPr>
              <a:t> </a:t>
            </a:r>
          </a:p>
          <a:p>
            <a:pPr marL="0" indent="0">
              <a:buNone/>
            </a:pPr>
            <a:r>
              <a:rPr lang="en-US" sz="1000" b="1" dirty="0">
                <a:solidFill>
                  <a:srgbClr val="F5C518"/>
                </a:solidFill>
                <a:latin typeface="Calibri" pitchFamily="34" charset="0"/>
              </a:rPr>
              <a:t>HW-QL-002  Raspberry Pi Power Supply (USB-C 5.1V/5A)</a:t>
            </a:r>
          </a:p>
          <a:p>
            <a:pPr marL="0" indent="0">
              <a:buNone/>
            </a:pPr>
            <a:r>
              <a:rPr lang="en-US" sz="900" dirty="0">
                <a:solidFill>
                  <a:srgbClr val="CBD5E1"/>
                </a:solidFill>
                <a:latin typeface="Calibri" pitchFamily="34" charset="0"/>
              </a:rPr>
              <a:t>Model SC1407 · Qty: 1</a:t>
            </a:r>
          </a:p>
          <a:p>
            <a:pPr marL="0" indent="0">
              <a:buNone/>
            </a:pPr>
            <a:endParaRPr lang="en-US" sz="500" dirty="0">
              <a:solidFill>
                <a:srgbClr val="CBD5E1"/>
              </a:solidFill>
              <a:latin typeface="Calibri" pitchFamily="34" charset="0"/>
            </a:endParaRPr>
          </a:p>
          <a:p>
            <a:r>
              <a:rPr lang="en-US" sz="1000" b="1" dirty="0">
                <a:solidFill>
                  <a:srgbClr val="F5C518"/>
                </a:solidFill>
                <a:latin typeface="Calibri" pitchFamily="34" charset="0"/>
              </a:rPr>
              <a:t>HW-QL-003  Raspberry Pi 5 Cooling Fan</a:t>
            </a:r>
          </a:p>
          <a:p>
            <a:r>
              <a:rPr lang="en-US" sz="900" dirty="0">
                <a:solidFill>
                  <a:srgbClr val="CBD5E1"/>
                </a:solidFill>
                <a:latin typeface="Calibri" pitchFamily="34" charset="0"/>
              </a:rPr>
              <a:t>Model SC1148 · Qty: 1</a:t>
            </a:r>
            <a:endParaRPr lang="en-US" sz="1000" dirty="0">
              <a:solidFill>
                <a:srgbClr val="CBD5E1"/>
              </a:solidFill>
              <a:latin typeface="Calibri" pitchFamily="34" charset="0"/>
            </a:endParaRPr>
          </a:p>
          <a:p>
            <a:pPr marL="0" indent="0">
              <a:buNone/>
            </a:pPr>
            <a:r>
              <a:rPr lang="en-US" sz="400" dirty="0">
                <a:solidFill>
                  <a:srgbClr val="FFFFFF"/>
                </a:solidFill>
                <a:latin typeface="Calibri" pitchFamily="34" charset="0"/>
              </a:rPr>
              <a:t> </a:t>
            </a:r>
          </a:p>
          <a:p>
            <a:pPr marL="0" indent="0">
              <a:buNone/>
            </a:pPr>
            <a:r>
              <a:rPr lang="en-US" sz="1000" b="1" dirty="0">
                <a:solidFill>
                  <a:srgbClr val="F5C518"/>
                </a:solidFill>
                <a:latin typeface="Calibri" pitchFamily="34" charset="0"/>
              </a:rPr>
              <a:t>HW-QL-004  Standoffs</a:t>
            </a:r>
          </a:p>
          <a:p>
            <a:pPr marL="0" indent="0">
              <a:buNone/>
            </a:pPr>
            <a:r>
              <a:rPr lang="en-US" sz="900" dirty="0">
                <a:solidFill>
                  <a:srgbClr val="CBD5E1"/>
                </a:solidFill>
                <a:latin typeface="Calibri" pitchFamily="34" charset="0"/>
              </a:rPr>
              <a:t>Standoff for mounting on the raspberry · Qty: 10</a:t>
            </a:r>
          </a:p>
          <a:p>
            <a:pPr marL="0" indent="0">
              <a:buNone/>
            </a:pPr>
            <a:r>
              <a:rPr lang="en-US" sz="400" dirty="0">
                <a:solidFill>
                  <a:srgbClr val="FFFFFF"/>
                </a:solidFill>
                <a:latin typeface="Calibri" pitchFamily="34" charset="0"/>
              </a:rPr>
              <a:t> </a:t>
            </a:r>
          </a:p>
          <a:p>
            <a:pPr marL="0" indent="0">
              <a:buNone/>
            </a:pPr>
            <a:r>
              <a:rPr lang="en-US" sz="1000" b="1" dirty="0">
                <a:solidFill>
                  <a:srgbClr val="F5C518"/>
                </a:solidFill>
                <a:latin typeface="Calibri" pitchFamily="34" charset="0"/>
              </a:rPr>
              <a:t>HW-QL-005  QiLab Expansion HAT</a:t>
            </a:r>
          </a:p>
          <a:p>
            <a:pPr marL="0" indent="0">
              <a:buNone/>
            </a:pPr>
            <a:r>
              <a:rPr lang="en-US" sz="900" dirty="0">
                <a:solidFill>
                  <a:srgbClr val="CBD5E1"/>
                </a:solidFill>
                <a:latin typeface="Calibri" pitchFamily="34" charset="0"/>
              </a:rPr>
              <a:t>Custom in-house HAT · supports up to 4 nodes · Qty: 1</a:t>
            </a:r>
          </a:p>
          <a:p>
            <a:pPr marL="0" indent="0">
              <a:buNone/>
            </a:pPr>
            <a:r>
              <a:rPr lang="en-US" sz="900" dirty="0">
                <a:solidFill>
                  <a:srgbClr val="4A6A9A"/>
                </a:solidFill>
                <a:latin typeface="Calibri" pitchFamily="34" charset="0"/>
              </a:rPr>
              <a:t>In-house manufacturing — see hardware spec in Pico repo</a:t>
            </a:r>
          </a:p>
          <a:p>
            <a:pPr marL="0" indent="0">
              <a:buNone/>
            </a:pPr>
            <a:endParaRPr lang="en-US" sz="400" dirty="0">
              <a:solidFill>
                <a:srgbClr val="4A6A9A"/>
              </a:solidFill>
              <a:latin typeface="Calibri" pitchFamily="34" charset="0"/>
            </a:endParaRPr>
          </a:p>
          <a:p>
            <a:r>
              <a:rPr lang="en-US" sz="1000" b="1" dirty="0">
                <a:solidFill>
                  <a:srgbClr val="F5C518"/>
                </a:solidFill>
                <a:latin typeface="Calibri" pitchFamily="34" charset="0"/>
              </a:rPr>
              <a:t>HW-QL-006  Raspberry Pi Pico Debug Probe (opt.)</a:t>
            </a:r>
          </a:p>
          <a:p>
            <a:r>
              <a:rPr lang="en-US" sz="900" dirty="0">
                <a:solidFill>
                  <a:srgbClr val="CBD5E1"/>
                </a:solidFill>
                <a:latin typeface="Calibri" pitchFamily="34" charset="0"/>
              </a:rPr>
              <a:t>Raspberry Pi Debug Probe· Qty: 1</a:t>
            </a:r>
          </a:p>
          <a:p>
            <a:r>
              <a:rPr lang="en-US" sz="900" dirty="0">
                <a:solidFill>
                  <a:srgbClr val="4A6A9A"/>
                </a:solidFill>
                <a:latin typeface="Calibri" pitchFamily="34" charset="0"/>
              </a:rPr>
              <a:t>Only needed if freshy manufactured HAT is used</a:t>
            </a:r>
          </a:p>
          <a:p>
            <a:pPr marL="0" indent="0">
              <a:buNone/>
            </a:pPr>
            <a:r>
              <a:rPr lang="en-US" sz="300" dirty="0">
                <a:solidFill>
                  <a:srgbClr val="FFFFFF"/>
                </a:solidFill>
                <a:latin typeface="Calibri" pitchFamily="34" charset="0"/>
              </a:rPr>
              <a:t> </a:t>
            </a:r>
          </a:p>
        </p:txBody>
      </p:sp>
      <p:sp>
        <p:nvSpPr>
          <p:cNvPr id="20" name="Card_BG_20"/>
          <p:cNvSpPr/>
          <p:nvPr/>
        </p:nvSpPr>
        <p:spPr>
          <a:xfrm>
            <a:off x="4594860" y="1060000"/>
            <a:ext cx="4229100" cy="37700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dirty="0"/>
          </a:p>
        </p:txBody>
      </p:sp>
      <p:sp>
        <p:nvSpPr>
          <p:cNvPr id="21" name="Card_Bar_20"/>
          <p:cNvSpPr/>
          <p:nvPr/>
        </p:nvSpPr>
        <p:spPr>
          <a:xfrm>
            <a:off x="4594860" y="1060000"/>
            <a:ext cx="4229100" cy="36576"/>
          </a:xfrm>
          <a:prstGeom prst="rect">
            <a:avLst/>
          </a:prstGeom>
          <a:solidFill>
            <a:srgbClr val="F5C518"/>
          </a:solidFill>
          <a:ln w="12700">
            <a:solidFill>
              <a:srgbClr val="F5C518"/>
            </a:solidFill>
            <a:prstDash val="solid"/>
          </a:ln>
        </p:spPr>
        <p:txBody>
          <a:bodyPr/>
          <a:lstStyle/>
          <a:p>
            <a:endParaRPr lang="nl-NL"/>
          </a:p>
        </p:txBody>
      </p:sp>
      <p:sp>
        <p:nvSpPr>
          <p:cNvPr id="22" name="TB_22"/>
          <p:cNvSpPr/>
          <p:nvPr/>
        </p:nvSpPr>
        <p:spPr>
          <a:xfrm>
            <a:off x="4732020" y="1140000"/>
            <a:ext cx="4046220" cy="3670000"/>
          </a:xfrm>
          <a:prstGeom prst="rect">
            <a:avLst/>
          </a:prstGeom>
          <a:noFill/>
          <a:ln/>
        </p:spPr>
        <p:txBody>
          <a:bodyPr wrap="square" rtlCol="0" anchor="t"/>
          <a:lstStyle/>
          <a:p>
            <a:pPr marL="0" indent="0">
              <a:buNone/>
            </a:pPr>
            <a:r>
              <a:rPr lang="en-US" sz="1400" b="1" dirty="0">
                <a:solidFill>
                  <a:srgbClr val="FFFFFF"/>
                </a:solidFill>
                <a:latin typeface="Calibri" pitchFamily="34" charset="0"/>
              </a:rPr>
              <a:t>Miscellaneous / Accessories</a:t>
            </a:r>
          </a:p>
          <a:p>
            <a:pPr marL="0" indent="0">
              <a:buNone/>
            </a:pPr>
            <a:r>
              <a:rPr lang="en-US" sz="300" dirty="0">
                <a:solidFill>
                  <a:srgbClr val="FFFFFF"/>
                </a:solidFill>
                <a:latin typeface="Calibri" pitchFamily="34" charset="0"/>
              </a:rPr>
              <a:t> </a:t>
            </a:r>
          </a:p>
          <a:p>
            <a:pPr marL="0" indent="0">
              <a:buNone/>
            </a:pPr>
            <a:r>
              <a:rPr lang="en-US" sz="1050" b="1" dirty="0">
                <a:solidFill>
                  <a:srgbClr val="F5C518"/>
                </a:solidFill>
                <a:latin typeface="Calibri" pitchFamily="34" charset="0"/>
              </a:rPr>
              <a:t>HW-MISC-001  USB Hub (USB 3.0, ≥3 ports)</a:t>
            </a:r>
          </a:p>
          <a:p>
            <a:pPr marL="0" indent="0">
              <a:buNone/>
            </a:pPr>
            <a:r>
              <a:rPr lang="en-US" sz="1000" dirty="0">
                <a:solidFill>
                  <a:srgbClr val="CBD5E1"/>
                </a:solidFill>
                <a:latin typeface="Calibri" pitchFamily="34" charset="0"/>
              </a:rPr>
              <a:t>Qty: 1 — for connecting MicroZed boards to host PC</a:t>
            </a:r>
          </a:p>
          <a:p>
            <a:pPr marL="0" indent="0">
              <a:buNone/>
            </a:pPr>
            <a:r>
              <a:rPr lang="en-US" sz="500" dirty="0">
                <a:solidFill>
                  <a:srgbClr val="FFFFFF"/>
                </a:solidFill>
                <a:latin typeface="Calibri" pitchFamily="34" charset="0"/>
              </a:rPr>
              <a:t> </a:t>
            </a:r>
          </a:p>
          <a:p>
            <a:pPr marL="0" indent="0">
              <a:buNone/>
            </a:pPr>
            <a:r>
              <a:rPr lang="en-US" sz="1050" b="1" dirty="0">
                <a:solidFill>
                  <a:srgbClr val="F5C518"/>
                </a:solidFill>
                <a:latin typeface="Calibri" pitchFamily="34" charset="0"/>
              </a:rPr>
              <a:t>HW-MISC-002  Micro SD Card (≥32GB, 64GB+ recommended)</a:t>
            </a:r>
          </a:p>
          <a:p>
            <a:pPr marL="0" indent="0">
              <a:buNone/>
            </a:pPr>
            <a:r>
              <a:rPr lang="en-US" sz="1000" dirty="0">
                <a:solidFill>
                  <a:srgbClr val="CBD5E1"/>
                </a:solidFill>
                <a:latin typeface="Calibri" pitchFamily="34" charset="0"/>
              </a:rPr>
              <a:t>Qty: 1 — SanDisk Extreme Pro A2 recommended</a:t>
            </a:r>
          </a:p>
          <a:p>
            <a:pPr marL="0" indent="0">
              <a:buNone/>
            </a:pPr>
            <a:r>
              <a:rPr lang="en-US" sz="500" dirty="0">
                <a:solidFill>
                  <a:srgbClr val="FFFFFF"/>
                </a:solidFill>
                <a:latin typeface="Calibri" pitchFamily="34" charset="0"/>
              </a:rPr>
              <a:t> </a:t>
            </a:r>
          </a:p>
          <a:p>
            <a:pPr marL="0" indent="0">
              <a:buNone/>
            </a:pPr>
            <a:r>
              <a:rPr lang="en-US" sz="1050" b="1" dirty="0">
                <a:solidFill>
                  <a:srgbClr val="F5C518"/>
                </a:solidFill>
                <a:latin typeface="Calibri" pitchFamily="34" charset="0"/>
              </a:rPr>
              <a:t>HW-MISC-003  Network Switch (5-port)</a:t>
            </a:r>
          </a:p>
          <a:p>
            <a:pPr marL="0" indent="0">
              <a:buNone/>
            </a:pPr>
            <a:r>
              <a:rPr lang="en-US" sz="1000" dirty="0">
                <a:solidFill>
                  <a:srgbClr val="CBD5E1"/>
                </a:solidFill>
                <a:latin typeface="Calibri" pitchFamily="34" charset="0"/>
              </a:rPr>
              <a:t>Qty: 1 — minimum 5 ports</a:t>
            </a:r>
          </a:p>
          <a:p>
            <a:endParaRPr lang="en-US" sz="500" dirty="0">
              <a:solidFill>
                <a:srgbClr val="CBD5E1"/>
              </a:solidFill>
              <a:latin typeface="Calibri" pitchFamily="34" charset="0"/>
            </a:endParaRPr>
          </a:p>
          <a:p>
            <a:r>
              <a:rPr lang="en-US" sz="1050" b="1" dirty="0">
                <a:solidFill>
                  <a:srgbClr val="F5C518"/>
                </a:solidFill>
                <a:latin typeface="Calibri" pitchFamily="34" charset="0"/>
              </a:rPr>
              <a:t>HW-MISC-004  USB to Ethernet Adapter (opt.)</a:t>
            </a:r>
          </a:p>
          <a:p>
            <a:r>
              <a:rPr lang="en-US" sz="1000" dirty="0">
                <a:solidFill>
                  <a:srgbClr val="CBD5E1"/>
                </a:solidFill>
                <a:latin typeface="Calibri" pitchFamily="34" charset="0"/>
              </a:rPr>
              <a:t>Qty: 1 — Optional item if computers does not have ethernet port</a:t>
            </a:r>
          </a:p>
          <a:p>
            <a:endParaRPr lang="en-US" sz="500" dirty="0">
              <a:solidFill>
                <a:srgbClr val="FFFFFF"/>
              </a:solidFill>
              <a:latin typeface="Calibri" pitchFamily="34" charset="0"/>
            </a:endParaRPr>
          </a:p>
          <a:p>
            <a:pPr marL="0" indent="0">
              <a:buNone/>
            </a:pPr>
            <a:r>
              <a:rPr lang="en-US" sz="1050" b="1" dirty="0">
                <a:solidFill>
                  <a:srgbClr val="F5C518"/>
                </a:solidFill>
                <a:latin typeface="Calibri" pitchFamily="34" charset="0"/>
              </a:rPr>
              <a:t>HW-MISC-005  Micro USB cables (0.5m)</a:t>
            </a:r>
          </a:p>
          <a:p>
            <a:pPr marL="0" indent="0">
              <a:buNone/>
            </a:pPr>
            <a:r>
              <a:rPr lang="en-US" sz="1000" dirty="0">
                <a:solidFill>
                  <a:srgbClr val="CBD5E1"/>
                </a:solidFill>
                <a:latin typeface="Calibri" pitchFamily="34" charset="0"/>
              </a:rPr>
              <a:t>Qty: 2 — power + serial logs from MicroZed</a:t>
            </a:r>
          </a:p>
          <a:p>
            <a:pPr marL="0" indent="0">
              <a:buNone/>
            </a:pPr>
            <a:r>
              <a:rPr lang="en-US" sz="500" dirty="0">
                <a:solidFill>
                  <a:srgbClr val="FFFFFF"/>
                </a:solidFill>
                <a:latin typeface="Calibri" pitchFamily="34" charset="0"/>
              </a:rPr>
              <a:t> </a:t>
            </a:r>
          </a:p>
          <a:p>
            <a:pPr marL="0" indent="0">
              <a:buNone/>
            </a:pPr>
            <a:r>
              <a:rPr lang="en-US" sz="1050" b="1" dirty="0">
                <a:solidFill>
                  <a:srgbClr val="F5C518"/>
                </a:solidFill>
                <a:latin typeface="Calibri" pitchFamily="34" charset="0"/>
              </a:rPr>
              <a:t>HW-MISC-006  Patch cables (0.5m) </a:t>
            </a:r>
          </a:p>
          <a:p>
            <a:r>
              <a:rPr lang="en-US" sz="1000" dirty="0">
                <a:solidFill>
                  <a:srgbClr val="CBD5E1"/>
                </a:solidFill>
                <a:latin typeface="Calibri" pitchFamily="34" charset="0"/>
              </a:rPr>
              <a:t>Qty: 4 — connection from MicroZed, </a:t>
            </a:r>
            <a:r>
              <a:rPr lang="en-US" sz="1000" dirty="0" err="1">
                <a:solidFill>
                  <a:srgbClr val="CBD5E1"/>
                </a:solidFill>
                <a:latin typeface="Calibri" pitchFamily="34" charset="0"/>
              </a:rPr>
              <a:t>QiLab</a:t>
            </a:r>
            <a:r>
              <a:rPr lang="en-US" sz="1000" dirty="0">
                <a:solidFill>
                  <a:srgbClr val="CBD5E1"/>
                </a:solidFill>
                <a:latin typeface="Calibri" pitchFamily="34" charset="0"/>
              </a:rPr>
              <a:t> and PC</a:t>
            </a:r>
          </a:p>
          <a:p>
            <a:pPr marL="0" indent="0">
              <a:buNone/>
            </a:pPr>
            <a:endParaRPr lang="en-US" sz="500" dirty="0">
              <a:solidFill>
                <a:srgbClr val="CBD5E1"/>
              </a:solidFill>
              <a:latin typeface="Calibri" pitchFamily="34" charset="0"/>
            </a:endParaRPr>
          </a:p>
          <a:p>
            <a:r>
              <a:rPr lang="en-US" sz="1050" b="1" dirty="0">
                <a:solidFill>
                  <a:srgbClr val="F5C518"/>
                </a:solidFill>
                <a:latin typeface="Calibri" pitchFamily="34" charset="0"/>
              </a:rPr>
              <a:t>HW-MISC-007  Ribbon cables (2x6, 2.54mm)</a:t>
            </a:r>
          </a:p>
          <a:p>
            <a:r>
              <a:rPr lang="en-US" sz="1000" dirty="0">
                <a:solidFill>
                  <a:srgbClr val="CBD5E1"/>
                </a:solidFill>
                <a:latin typeface="Calibri" pitchFamily="34" charset="0"/>
              </a:rPr>
              <a:t>Qty: 2 — connection from MicroZed to extender HAT</a:t>
            </a:r>
          </a:p>
          <a:p>
            <a:endParaRPr lang="en-US" sz="1000" dirty="0">
              <a:solidFill>
                <a:srgbClr val="CBD5E1"/>
              </a:solidFill>
              <a:latin typeface="Calibri" pitchFamily="34" charset="0"/>
            </a:endParaRPr>
          </a:p>
          <a:p>
            <a:endParaRPr lang="en-US" sz="1000" dirty="0">
              <a:solidFill>
                <a:srgbClr val="CBD5E1"/>
              </a:solidFill>
              <a:latin typeface="Calibri" pitchFamily="34" charset="0"/>
            </a:endParaRPr>
          </a:p>
          <a:p>
            <a:pPr marL="0" indent="0">
              <a:buNone/>
            </a:pPr>
            <a:endParaRPr lang="en-US" sz="850" dirty="0">
              <a:solidFill>
                <a:srgbClr val="CBD5E1"/>
              </a:solidFill>
              <a:latin typeface="Calibri" pitchFamily="34" charset="0"/>
            </a:endParaRPr>
          </a:p>
          <a:p>
            <a:pPr marL="0" indent="0">
              <a:buNone/>
            </a:pPr>
            <a:r>
              <a:rPr lang="en-US" sz="300" dirty="0">
                <a:solidFill>
                  <a:srgbClr val="FFFFFF"/>
                </a:solidFill>
                <a:latin typeface="Calibri" pitchFamily="34" charset="0"/>
              </a:rPr>
              <a:t> </a:t>
            </a:r>
          </a:p>
        </p:txBody>
      </p:sp>
      <p:sp>
        <p:nvSpPr>
          <p:cNvPr id="97" name="Shape_Footer_BG"/>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7" name="Text_Footer_Right">
            <a:extLst>
              <a:ext uri="{FF2B5EF4-FFF2-40B4-BE49-F238E27FC236}">
                <a16:creationId xmlns:a16="http://schemas.microsoft.com/office/drawing/2014/main" id="{2372C1E3-2DEB-307C-439A-2DC8B84041C0}"/>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09 / 32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_Heade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rPr>
              <a:t>HW Assembly — How to Put It Together</a:t>
            </a:r>
          </a:p>
        </p:txBody>
      </p:sp>
      <p:sp>
        <p:nvSpPr>
          <p:cNvPr id="6" name="Text_Subtitle"/>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rPr>
              <a:t>Step-by-step: from parts to a running setup</a:t>
            </a:r>
          </a:p>
        </p:txBody>
      </p:sp>
      <p:sp>
        <p:nvSpPr>
          <p:cNvPr id="10" name="Card_BG_10"/>
          <p:cNvSpPr/>
          <p:nvPr/>
        </p:nvSpPr>
        <p:spPr>
          <a:xfrm>
            <a:off x="320040" y="1060000"/>
            <a:ext cx="4229100" cy="37700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1" name="Card_Bar_10"/>
          <p:cNvSpPr/>
          <p:nvPr/>
        </p:nvSpPr>
        <p:spPr>
          <a:xfrm>
            <a:off x="320040" y="1060000"/>
            <a:ext cx="4229100" cy="36576"/>
          </a:xfrm>
          <a:prstGeom prst="rect">
            <a:avLst/>
          </a:prstGeom>
          <a:solidFill>
            <a:srgbClr val="F5C518"/>
          </a:solidFill>
          <a:ln w="12700">
            <a:solidFill>
              <a:srgbClr val="F5C518"/>
            </a:solidFill>
            <a:prstDash val="solid"/>
          </a:ln>
        </p:spPr>
        <p:txBody>
          <a:bodyPr/>
          <a:lstStyle/>
          <a:p>
            <a:endParaRPr lang="nl-NL"/>
          </a:p>
        </p:txBody>
      </p:sp>
      <p:sp>
        <p:nvSpPr>
          <p:cNvPr id="12" name="TB_12"/>
          <p:cNvSpPr/>
          <p:nvPr/>
        </p:nvSpPr>
        <p:spPr>
          <a:xfrm>
            <a:off x="457200" y="1140000"/>
            <a:ext cx="4046220" cy="3670000"/>
          </a:xfrm>
          <a:prstGeom prst="rect">
            <a:avLst/>
          </a:prstGeom>
          <a:noFill/>
          <a:ln/>
        </p:spPr>
        <p:txBody>
          <a:bodyPr wrap="square" rtlCol="0" anchor="t"/>
          <a:lstStyle/>
          <a:p>
            <a:pPr marL="0" indent="0">
              <a:buNone/>
            </a:pPr>
            <a:r>
              <a:rPr lang="en-US" sz="1400" b="1" dirty="0">
                <a:solidFill>
                  <a:srgbClr val="FFFFFF"/>
                </a:solidFill>
                <a:latin typeface="Calibri" pitchFamily="34" charset="0"/>
              </a:rPr>
              <a:t>Assembly Steps</a:t>
            </a:r>
          </a:p>
          <a:p>
            <a:r>
              <a:rPr lang="en-US" sz="1200" dirty="0">
                <a:solidFill>
                  <a:srgbClr val="CBD5E1"/>
                </a:solidFill>
                <a:latin typeface="Calibri" pitchFamily="34" charset="0"/>
              </a:rPr>
              <a:t>→  Attach cooling fan and standoffs (M2.5, 11×17mm</a:t>
            </a:r>
            <a:r>
              <a:rPr lang="en-US" sz="1400" dirty="0">
                <a:solidFill>
                  <a:srgbClr val="CBD5E1"/>
                </a:solidFill>
                <a:latin typeface="Calibri" pitchFamily="34" charset="0"/>
              </a:rPr>
              <a:t>)</a:t>
            </a:r>
            <a:endParaRPr lang="en-US" sz="700" dirty="0">
              <a:solidFill>
                <a:srgbClr val="FFFFFF"/>
              </a:solidFill>
              <a:latin typeface="Calibri" pitchFamily="34" charset="0"/>
            </a:endParaRPr>
          </a:p>
          <a:p>
            <a:pPr marL="0" indent="0">
              <a:buNone/>
            </a:pPr>
            <a:r>
              <a:rPr lang="en-US" sz="1200" dirty="0">
                <a:solidFill>
                  <a:srgbClr val="CBD5E1"/>
                </a:solidFill>
                <a:latin typeface="Calibri" pitchFamily="34" charset="0"/>
              </a:rPr>
              <a:t>→  Mount QiLab Expansion HAT on Raspberry Pi 5</a:t>
            </a:r>
          </a:p>
          <a:p>
            <a:pPr lvl="1"/>
            <a:r>
              <a:rPr lang="en-US" sz="1200" dirty="0">
                <a:solidFill>
                  <a:srgbClr val="CBD5E1"/>
                </a:solidFill>
                <a:latin typeface="Calibri" pitchFamily="34" charset="0"/>
              </a:rPr>
              <a:t>- The HAT should point outwards from the PI and should be NOT above the cooling fan</a:t>
            </a:r>
          </a:p>
          <a:p>
            <a:pPr marL="0" indent="0">
              <a:buNone/>
            </a:pPr>
            <a:r>
              <a:rPr lang="en-US" sz="1200" dirty="0">
                <a:solidFill>
                  <a:srgbClr val="CBD5E1"/>
                </a:solidFill>
                <a:latin typeface="Calibri" pitchFamily="34" charset="0"/>
              </a:rPr>
              <a:t>→  Connect ribbon cables (HAT → MicroZed boards)</a:t>
            </a:r>
          </a:p>
          <a:p>
            <a:pPr lvl="1"/>
            <a:r>
              <a:rPr lang="en-US" sz="1200" dirty="0">
                <a:solidFill>
                  <a:srgbClr val="CBD5E1"/>
                </a:solidFill>
                <a:latin typeface="Calibri" pitchFamily="34" charset="0"/>
              </a:rPr>
              <a:t>- Pin 1 is indicated on the ribbon cable as well as on the HAT and MicroZed (see Appendix 2)</a:t>
            </a:r>
          </a:p>
          <a:p>
            <a:r>
              <a:rPr lang="en-US" sz="1200" dirty="0">
                <a:solidFill>
                  <a:srgbClr val="CBD5E1"/>
                </a:solidFill>
                <a:latin typeface="Calibri" pitchFamily="34" charset="0"/>
              </a:rPr>
              <a:t>→  Check MicroZed configuration jumpers. They should be in the same line. From the factory one is shifted up. Move it in the same line as the other two (see Appendix 1)</a:t>
            </a:r>
          </a:p>
          <a:p>
            <a:pPr marL="0" indent="0">
              <a:buNone/>
            </a:pPr>
            <a:r>
              <a:rPr lang="en-US" sz="1200" dirty="0">
                <a:solidFill>
                  <a:srgbClr val="CBD5E1"/>
                </a:solidFill>
                <a:latin typeface="Calibri" pitchFamily="34" charset="0"/>
              </a:rPr>
              <a:t>→  Connect Micro USB cables from USB Hub → MicroZed and connect the hub to your PC</a:t>
            </a:r>
          </a:p>
          <a:p>
            <a:pPr marL="0" indent="0">
              <a:buNone/>
            </a:pPr>
            <a:r>
              <a:rPr lang="en-US" sz="1200" dirty="0">
                <a:solidFill>
                  <a:srgbClr val="CBD5E1"/>
                </a:solidFill>
                <a:latin typeface="Calibri" pitchFamily="34" charset="0"/>
              </a:rPr>
              <a:t>→  Connect all nodes via network switch (patch cables)</a:t>
            </a:r>
          </a:p>
          <a:p>
            <a:r>
              <a:rPr lang="en-US" sz="1200" dirty="0">
                <a:solidFill>
                  <a:srgbClr val="CBD5E1"/>
                </a:solidFill>
                <a:latin typeface="Calibri" pitchFamily="34" charset="0"/>
              </a:rPr>
              <a:t>→  Connect Raspberry Pi 5 and your PC to the switch</a:t>
            </a:r>
          </a:p>
          <a:p>
            <a:pPr marL="0" indent="0">
              <a:buNone/>
            </a:pPr>
            <a:r>
              <a:rPr lang="en-US" sz="1200" dirty="0">
                <a:solidFill>
                  <a:srgbClr val="CBD5E1"/>
                </a:solidFill>
                <a:latin typeface="Calibri" pitchFamily="34" charset="0"/>
              </a:rPr>
              <a:t>→  Connect JTAG-HS2 cable for firmware flashing</a:t>
            </a:r>
          </a:p>
          <a:p>
            <a:r>
              <a:rPr lang="en-US" sz="1200" dirty="0">
                <a:solidFill>
                  <a:srgbClr val="CBD5E1"/>
                </a:solidFill>
                <a:latin typeface="Calibri" pitchFamily="34" charset="0"/>
              </a:rPr>
              <a:t>→  Insert Micro SD card (flashed with </a:t>
            </a:r>
            <a:r>
              <a:rPr lang="en-US" sz="1200" dirty="0" err="1">
                <a:solidFill>
                  <a:srgbClr val="CBD5E1"/>
                </a:solidFill>
                <a:latin typeface="Calibri" pitchFamily="34" charset="0"/>
              </a:rPr>
              <a:t>QiLab</a:t>
            </a:r>
            <a:r>
              <a:rPr lang="en-US" sz="1200" dirty="0">
                <a:solidFill>
                  <a:srgbClr val="CBD5E1"/>
                </a:solidFill>
                <a:latin typeface="Calibri" pitchFamily="34" charset="0"/>
              </a:rPr>
              <a:t> image see next slide for where to find the image and slide 21 on how to flash the </a:t>
            </a:r>
            <a:r>
              <a:rPr lang="en-US" sz="1200" dirty="0" err="1">
                <a:solidFill>
                  <a:srgbClr val="CBD5E1"/>
                </a:solidFill>
                <a:latin typeface="Calibri" pitchFamily="34" charset="0"/>
              </a:rPr>
              <a:t>sd</a:t>
            </a:r>
            <a:r>
              <a:rPr lang="en-US" sz="1200" dirty="0">
                <a:solidFill>
                  <a:srgbClr val="CBD5E1"/>
                </a:solidFill>
                <a:latin typeface="Calibri" pitchFamily="34" charset="0"/>
              </a:rPr>
              <a:t> card)</a:t>
            </a:r>
          </a:p>
          <a:p>
            <a:pPr marL="0" indent="0">
              <a:buNone/>
            </a:pPr>
            <a:endParaRPr lang="en-US" sz="1200" dirty="0">
              <a:solidFill>
                <a:srgbClr val="CBD5E1"/>
              </a:solidFill>
              <a:latin typeface="Calibri" pitchFamily="34" charset="0"/>
            </a:endParaRPr>
          </a:p>
          <a:p>
            <a:pPr marL="0" indent="0">
              <a:buNone/>
            </a:pPr>
            <a:r>
              <a:rPr lang="en-US" sz="700" dirty="0">
                <a:solidFill>
                  <a:srgbClr val="FFFFFF"/>
                </a:solidFill>
                <a:latin typeface="Calibri" pitchFamily="34" charset="0"/>
              </a:rPr>
              <a:t> </a:t>
            </a:r>
          </a:p>
          <a:p>
            <a:pPr marL="0" indent="0">
              <a:buNone/>
            </a:pPr>
            <a:r>
              <a:rPr lang="en-US" sz="1200" b="1" dirty="0">
                <a:solidFill>
                  <a:srgbClr val="F5C518"/>
                </a:solidFill>
                <a:latin typeface="Calibri" pitchFamily="34" charset="0"/>
              </a:rPr>
              <a:t>NOTE  Flash SD card and HAT before first use</a:t>
            </a:r>
          </a:p>
        </p:txBody>
      </p:sp>
      <p:sp>
        <p:nvSpPr>
          <p:cNvPr id="20" name="Card_BG_20"/>
          <p:cNvSpPr/>
          <p:nvPr/>
        </p:nvSpPr>
        <p:spPr>
          <a:xfrm>
            <a:off x="4594860" y="1060000"/>
            <a:ext cx="4229100" cy="37700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21" name="Card_Bar_20"/>
          <p:cNvSpPr/>
          <p:nvPr/>
        </p:nvSpPr>
        <p:spPr>
          <a:xfrm>
            <a:off x="4594860" y="1060000"/>
            <a:ext cx="4229100" cy="36576"/>
          </a:xfrm>
          <a:prstGeom prst="rect">
            <a:avLst/>
          </a:prstGeom>
          <a:solidFill>
            <a:srgbClr val="F5C518"/>
          </a:solidFill>
          <a:ln w="12700">
            <a:solidFill>
              <a:srgbClr val="F5C518"/>
            </a:solidFill>
            <a:prstDash val="solid"/>
          </a:ln>
        </p:spPr>
        <p:txBody>
          <a:bodyPr/>
          <a:lstStyle/>
          <a:p>
            <a:endParaRPr lang="nl-NL"/>
          </a:p>
        </p:txBody>
      </p:sp>
      <p:sp>
        <p:nvSpPr>
          <p:cNvPr id="22" name="TB_22"/>
          <p:cNvSpPr/>
          <p:nvPr/>
        </p:nvSpPr>
        <p:spPr>
          <a:xfrm>
            <a:off x="4732020" y="1140000"/>
            <a:ext cx="4046220" cy="3670000"/>
          </a:xfrm>
          <a:prstGeom prst="rect">
            <a:avLst/>
          </a:prstGeom>
          <a:noFill/>
          <a:ln/>
        </p:spPr>
        <p:txBody>
          <a:bodyPr wrap="square" rtlCol="0" anchor="t"/>
          <a:lstStyle/>
          <a:p>
            <a:pPr marL="0" indent="0">
              <a:buNone/>
            </a:pPr>
            <a:r>
              <a:rPr lang="en-US" sz="1400" b="1" dirty="0">
                <a:solidFill>
                  <a:srgbClr val="FFFFFF"/>
                </a:solidFill>
                <a:latin typeface="Calibri" pitchFamily="34" charset="0"/>
              </a:rPr>
              <a:t>Power-On Sequence</a:t>
            </a:r>
          </a:p>
          <a:p>
            <a:pPr marL="0" indent="0">
              <a:buNone/>
            </a:pPr>
            <a:r>
              <a:rPr lang="en-US" sz="700" dirty="0">
                <a:solidFill>
                  <a:srgbClr val="FFFFFF"/>
                </a:solidFill>
                <a:latin typeface="Calibri" pitchFamily="34" charset="0"/>
              </a:rPr>
              <a:t> </a:t>
            </a:r>
          </a:p>
          <a:p>
            <a:pPr marL="228600" indent="-228600">
              <a:buAutoNum type="arabicPeriod"/>
            </a:pPr>
            <a:r>
              <a:rPr lang="en-US" sz="1200" dirty="0">
                <a:solidFill>
                  <a:srgbClr val="CBD5E1"/>
                </a:solidFill>
                <a:latin typeface="Calibri" pitchFamily="34" charset="0"/>
              </a:rPr>
              <a:t>Power on network switch</a:t>
            </a:r>
          </a:p>
          <a:p>
            <a:pPr marL="228600" indent="-228600">
              <a:buAutoNum type="arabicPeriod" startAt="2"/>
            </a:pPr>
            <a:r>
              <a:rPr lang="en-US" sz="1200" dirty="0">
                <a:solidFill>
                  <a:srgbClr val="CBD5E1"/>
                </a:solidFill>
                <a:latin typeface="Calibri" pitchFamily="34" charset="0"/>
              </a:rPr>
              <a:t>Power on MicroZed boards via Micro USB</a:t>
            </a:r>
          </a:p>
          <a:p>
            <a:pPr marL="628650" lvl="1" indent="-171450">
              <a:buFont typeface="Arial" panose="020B0604020202020204" pitchFamily="34" charset="0"/>
              <a:buChar char="•"/>
            </a:pPr>
            <a:r>
              <a:rPr lang="en-US" sz="1200" dirty="0">
                <a:solidFill>
                  <a:srgbClr val="CBD5E1"/>
                </a:solidFill>
                <a:latin typeface="Calibri" pitchFamily="34" charset="0"/>
              </a:rPr>
              <a:t>Check that on both nodes red and green LED is on</a:t>
            </a:r>
          </a:p>
          <a:p>
            <a:pPr marL="0" indent="0">
              <a:buNone/>
            </a:pPr>
            <a:r>
              <a:rPr lang="en-US" sz="1200" dirty="0">
                <a:solidFill>
                  <a:srgbClr val="CBD5E1"/>
                </a:solidFill>
                <a:latin typeface="Calibri" pitchFamily="34" charset="0"/>
              </a:rPr>
              <a:t>3.  Power on Raspberry Pi 5 (if SD card flashed, </a:t>
            </a:r>
            <a:r>
              <a:rPr lang="en-US" sz="1200" dirty="0" err="1">
                <a:solidFill>
                  <a:srgbClr val="CBD5E1"/>
                </a:solidFill>
                <a:latin typeface="Calibri" pitchFamily="34" charset="0"/>
              </a:rPr>
              <a:t>QiLab</a:t>
            </a:r>
            <a:r>
              <a:rPr lang="en-US" sz="1200" dirty="0">
                <a:solidFill>
                  <a:srgbClr val="CBD5E1"/>
                </a:solidFill>
                <a:latin typeface="Calibri" pitchFamily="34" charset="0"/>
              </a:rPr>
              <a:t> boots, default address: 192.168.0.100:8000)</a:t>
            </a:r>
          </a:p>
          <a:p>
            <a:pPr marL="0" indent="0">
              <a:buNone/>
            </a:pPr>
            <a:r>
              <a:rPr lang="en-US" sz="700" dirty="0">
                <a:solidFill>
                  <a:srgbClr val="FFFFFF"/>
                </a:solidFill>
                <a:latin typeface="Calibri" pitchFamily="34" charset="0"/>
              </a:rPr>
              <a:t> </a:t>
            </a:r>
          </a:p>
          <a:p>
            <a:pPr marL="0" indent="0">
              <a:buNone/>
            </a:pPr>
            <a:r>
              <a:rPr lang="en-US" sz="1100" b="1" dirty="0">
                <a:solidFill>
                  <a:srgbClr val="9DB8E0"/>
                </a:solidFill>
                <a:latin typeface="Calibri" pitchFamily="34" charset="0"/>
              </a:rPr>
              <a:t>HAT firmware</a:t>
            </a:r>
          </a:p>
          <a:p>
            <a:pPr marL="0" indent="0">
              <a:buNone/>
            </a:pPr>
            <a:r>
              <a:rPr lang="en-US" sz="1100" dirty="0">
                <a:solidFill>
                  <a:srgbClr val="CBD5E1"/>
                </a:solidFill>
                <a:latin typeface="Calibri" pitchFamily="34" charset="0"/>
              </a:rPr>
              <a:t>Flash HAT with Pico SDK before first use (see Pico repo).</a:t>
            </a:r>
          </a:p>
          <a:p>
            <a:pPr marL="0" indent="0">
              <a:buNone/>
            </a:pPr>
            <a:r>
              <a:rPr lang="en-US" sz="1100" dirty="0">
                <a:solidFill>
                  <a:srgbClr val="9DB8E0"/>
                </a:solidFill>
                <a:latin typeface="Calibri" pitchFamily="34" charset="0"/>
              </a:rPr>
              <a:t>Pre-flashed if obtained from Wehner group.</a:t>
            </a:r>
          </a:p>
        </p:txBody>
      </p:sp>
      <p:sp>
        <p:nvSpPr>
          <p:cNvPr id="97" name="Shape_Footer_BG"/>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8" name="Text_Footer_Right">
            <a:extLst>
              <a:ext uri="{FF2B5EF4-FFF2-40B4-BE49-F238E27FC236}">
                <a16:creationId xmlns:a16="http://schemas.microsoft.com/office/drawing/2014/main" id="{521B5160-28B2-7690-7BB2-76A4E2A71188}"/>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12/ 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_Heade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rPr>
              <a:t>SW BOM — QiLab Components</a:t>
            </a:r>
          </a:p>
        </p:txBody>
      </p:sp>
      <p:sp>
        <p:nvSpPr>
          <p:cNvPr id="6" name="Text_Subtitle"/>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rPr>
              <a:t>Image, firmware and supporting tools</a:t>
            </a:r>
          </a:p>
        </p:txBody>
      </p:sp>
      <p:sp>
        <p:nvSpPr>
          <p:cNvPr id="10" name="Card_BG_10"/>
          <p:cNvSpPr/>
          <p:nvPr/>
        </p:nvSpPr>
        <p:spPr>
          <a:xfrm>
            <a:off x="320040" y="1060000"/>
            <a:ext cx="4229100" cy="37700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1" name="Card_Bar_10"/>
          <p:cNvSpPr/>
          <p:nvPr/>
        </p:nvSpPr>
        <p:spPr>
          <a:xfrm>
            <a:off x="320040" y="1060000"/>
            <a:ext cx="4229100" cy="36576"/>
          </a:xfrm>
          <a:prstGeom prst="rect">
            <a:avLst/>
          </a:prstGeom>
          <a:solidFill>
            <a:srgbClr val="F5C518"/>
          </a:solidFill>
          <a:ln w="12700">
            <a:solidFill>
              <a:srgbClr val="F5C518"/>
            </a:solidFill>
            <a:prstDash val="solid"/>
          </a:ln>
        </p:spPr>
        <p:txBody>
          <a:bodyPr/>
          <a:lstStyle/>
          <a:p>
            <a:endParaRPr lang="nl-NL"/>
          </a:p>
        </p:txBody>
      </p:sp>
      <p:sp>
        <p:nvSpPr>
          <p:cNvPr id="12" name="TB_12"/>
          <p:cNvSpPr/>
          <p:nvPr/>
        </p:nvSpPr>
        <p:spPr>
          <a:xfrm>
            <a:off x="457200" y="1140000"/>
            <a:ext cx="4046220" cy="3670000"/>
          </a:xfrm>
          <a:prstGeom prst="rect">
            <a:avLst/>
          </a:prstGeom>
          <a:noFill/>
          <a:ln/>
        </p:spPr>
        <p:txBody>
          <a:bodyPr wrap="square" rtlCol="0" anchor="t"/>
          <a:lstStyle/>
          <a:p>
            <a:pPr marL="0" indent="0">
              <a:buNone/>
            </a:pPr>
            <a:r>
              <a:rPr lang="en-US" sz="1400" b="1" dirty="0">
                <a:solidFill>
                  <a:srgbClr val="FFFFFF"/>
                </a:solidFill>
                <a:latin typeface="Calibri" pitchFamily="34" charset="0"/>
              </a:rPr>
              <a:t>QiLab Software</a:t>
            </a:r>
          </a:p>
          <a:p>
            <a:pPr marL="0" indent="0">
              <a:buNone/>
            </a:pPr>
            <a:r>
              <a:rPr lang="en-US" sz="500" dirty="0">
                <a:solidFill>
                  <a:srgbClr val="FFFFFF"/>
                </a:solidFill>
                <a:latin typeface="Calibri" pitchFamily="34" charset="0"/>
              </a:rPr>
              <a:t> </a:t>
            </a:r>
          </a:p>
          <a:p>
            <a:pPr marL="0" indent="0">
              <a:buNone/>
            </a:pPr>
            <a:r>
              <a:rPr lang="en-US" sz="1050" b="1" dirty="0">
                <a:solidFill>
                  <a:srgbClr val="F5C518"/>
                </a:solidFill>
                <a:latin typeface="Calibri" pitchFamily="34" charset="0"/>
              </a:rPr>
              <a:t>SW-QL-001  QiLab Raspberry Pi Image v0.1.8</a:t>
            </a:r>
          </a:p>
          <a:p>
            <a:pPr marL="0" indent="0">
              <a:buNone/>
            </a:pPr>
            <a:r>
              <a:rPr lang="en-US" sz="1000" dirty="0">
                <a:solidFill>
                  <a:srgbClr val="CBD5E1"/>
                </a:solidFill>
                <a:latin typeface="Calibri" pitchFamily="34" charset="0"/>
              </a:rPr>
              <a:t>Pre-built Linux PREEMPT_RT Debian Bookworm. Includes QiLab, web server (control/config), SSH. Default IP: 192.168.0.100.</a:t>
            </a:r>
          </a:p>
          <a:p>
            <a:pPr marL="0" indent="0">
              <a:buNone/>
            </a:pPr>
            <a:r>
              <a:rPr lang="en-US" sz="1000" dirty="0">
                <a:solidFill>
                  <a:srgbClr val="9DB8E0"/>
                </a:solidFill>
                <a:latin typeface="Calibri" pitchFamily="34" charset="0"/>
              </a:rPr>
              <a:t>Note: Minimum 32GB SD card. Use Raspberry Pi Imager to flash.</a:t>
            </a:r>
          </a:p>
          <a:p>
            <a:pPr marL="0" indent="0">
              <a:buNone/>
            </a:pPr>
            <a:r>
              <a:rPr lang="en-US" sz="500" dirty="0">
                <a:solidFill>
                  <a:srgbClr val="FFFFFF"/>
                </a:solidFill>
                <a:latin typeface="Calibri" pitchFamily="34" charset="0"/>
              </a:rPr>
              <a:t> </a:t>
            </a:r>
          </a:p>
          <a:p>
            <a:pPr marL="0" indent="0">
              <a:buNone/>
            </a:pPr>
            <a:r>
              <a:rPr lang="en-US" sz="1050" b="1" dirty="0">
                <a:solidFill>
                  <a:srgbClr val="F5C518"/>
                </a:solidFill>
                <a:latin typeface="Calibri" pitchFamily="34" charset="0"/>
              </a:rPr>
              <a:t>SW-QL-002  QiLab Extender HAT Firmware (opt.) v0.1</a:t>
            </a:r>
          </a:p>
          <a:p>
            <a:pPr marL="0" indent="0">
              <a:buNone/>
            </a:pPr>
            <a:r>
              <a:rPr lang="en-US" sz="1000" dirty="0">
                <a:solidFill>
                  <a:srgbClr val="CBD5E1"/>
                </a:solidFill>
                <a:latin typeface="Calibri" pitchFamily="34" charset="0"/>
              </a:rPr>
              <a:t>Firmware for the Pico co-processor on the expansion HAT. Only needed for freshly manufactured boards.</a:t>
            </a:r>
          </a:p>
          <a:p>
            <a:pPr marL="0" indent="0">
              <a:buNone/>
            </a:pPr>
            <a:r>
              <a:rPr lang="en-US" sz="1000" dirty="0">
                <a:solidFill>
                  <a:srgbClr val="9DB8E0"/>
                </a:solidFill>
                <a:latin typeface="Calibri" pitchFamily="34" charset="0"/>
              </a:rPr>
              <a:t>Note: No CI/CD release yet — compile with Pico SDK. See repo documentation.</a:t>
            </a:r>
          </a:p>
          <a:p>
            <a:pPr marL="0" indent="0">
              <a:buNone/>
            </a:pPr>
            <a:r>
              <a:rPr lang="en-US" sz="500" dirty="0">
                <a:solidFill>
                  <a:srgbClr val="FFFFFF"/>
                </a:solidFill>
                <a:latin typeface="Calibri" pitchFamily="34" charset="0"/>
              </a:rPr>
              <a:t> </a:t>
            </a:r>
          </a:p>
          <a:p>
            <a:pPr marL="0" indent="0">
              <a:buNone/>
            </a:pPr>
            <a:r>
              <a:rPr lang="en-US" sz="300" dirty="0">
                <a:solidFill>
                  <a:srgbClr val="FFFFFF"/>
                </a:solidFill>
                <a:latin typeface="Calibri" pitchFamily="34" charset="0"/>
              </a:rPr>
              <a:t> </a:t>
            </a:r>
          </a:p>
        </p:txBody>
      </p:sp>
      <p:sp>
        <p:nvSpPr>
          <p:cNvPr id="21" name="Card_Bar_20"/>
          <p:cNvSpPr/>
          <p:nvPr/>
        </p:nvSpPr>
        <p:spPr>
          <a:xfrm>
            <a:off x="4594860" y="1060000"/>
            <a:ext cx="4229100" cy="36576"/>
          </a:xfrm>
          <a:prstGeom prst="rect">
            <a:avLst/>
          </a:prstGeom>
          <a:solidFill>
            <a:srgbClr val="F5C518"/>
          </a:solidFill>
          <a:ln w="12700">
            <a:solidFill>
              <a:srgbClr val="F5C518"/>
            </a:solidFill>
            <a:prstDash val="solid"/>
          </a:ln>
        </p:spPr>
        <p:txBody>
          <a:bodyPr/>
          <a:lstStyle/>
          <a:p>
            <a:endParaRPr lang="nl-NL"/>
          </a:p>
        </p:txBody>
      </p:sp>
      <p:sp>
        <p:nvSpPr>
          <p:cNvPr id="97" name="Shape_Footer_BG"/>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99" name="Text_Footer_Right"/>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11/ 32</a:t>
            </a:r>
          </a:p>
        </p:txBody>
      </p:sp>
      <p:sp>
        <p:nvSpPr>
          <p:cNvPr id="7" name="Card_BG_20">
            <a:extLst>
              <a:ext uri="{FF2B5EF4-FFF2-40B4-BE49-F238E27FC236}">
                <a16:creationId xmlns:a16="http://schemas.microsoft.com/office/drawing/2014/main" id="{F760975B-C6BF-E093-4723-9AE0E9DDBF40}"/>
              </a:ext>
            </a:extLst>
          </p:cNvPr>
          <p:cNvSpPr/>
          <p:nvPr/>
        </p:nvSpPr>
        <p:spPr>
          <a:xfrm>
            <a:off x="4594860" y="1096576"/>
            <a:ext cx="4229100" cy="3733424"/>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8" name="Card_Bar_20">
            <a:extLst>
              <a:ext uri="{FF2B5EF4-FFF2-40B4-BE49-F238E27FC236}">
                <a16:creationId xmlns:a16="http://schemas.microsoft.com/office/drawing/2014/main" id="{833D74D6-C577-4828-5515-4043AB5DEF50}"/>
              </a:ext>
            </a:extLst>
          </p:cNvPr>
          <p:cNvSpPr/>
          <p:nvPr/>
        </p:nvSpPr>
        <p:spPr>
          <a:xfrm>
            <a:off x="4594860" y="1060000"/>
            <a:ext cx="4229100" cy="36576"/>
          </a:xfrm>
          <a:prstGeom prst="rect">
            <a:avLst/>
          </a:prstGeom>
          <a:solidFill>
            <a:srgbClr val="F5C518"/>
          </a:solidFill>
          <a:ln w="12700">
            <a:solidFill>
              <a:srgbClr val="F5C518"/>
            </a:solidFill>
            <a:prstDash val="solid"/>
          </a:ln>
        </p:spPr>
        <p:txBody>
          <a:bodyPr/>
          <a:lstStyle/>
          <a:p>
            <a:endParaRPr lang="nl-NL"/>
          </a:p>
        </p:txBody>
      </p:sp>
      <p:sp>
        <p:nvSpPr>
          <p:cNvPr id="9" name="TB_22">
            <a:extLst>
              <a:ext uri="{FF2B5EF4-FFF2-40B4-BE49-F238E27FC236}">
                <a16:creationId xmlns:a16="http://schemas.microsoft.com/office/drawing/2014/main" id="{B3EE45A9-45D7-9EFC-C958-FABFCAA092EF}"/>
              </a:ext>
            </a:extLst>
          </p:cNvPr>
          <p:cNvSpPr/>
          <p:nvPr/>
        </p:nvSpPr>
        <p:spPr>
          <a:xfrm>
            <a:off x="4732020" y="1140000"/>
            <a:ext cx="4046220" cy="3670000"/>
          </a:xfrm>
          <a:prstGeom prst="rect">
            <a:avLst/>
          </a:prstGeom>
          <a:noFill/>
          <a:ln/>
        </p:spPr>
        <p:txBody>
          <a:bodyPr wrap="square" rtlCol="0" anchor="t"/>
          <a:lstStyle/>
          <a:p>
            <a:pPr marL="0" indent="0">
              <a:buNone/>
            </a:pPr>
            <a:r>
              <a:rPr lang="en-US" sz="1400" b="1" dirty="0">
                <a:solidFill>
                  <a:srgbClr val="FFFFFF"/>
                </a:solidFill>
                <a:latin typeface="Calibri" pitchFamily="34" charset="0"/>
              </a:rPr>
              <a:t>Toolchain</a:t>
            </a:r>
          </a:p>
          <a:p>
            <a:pPr marL="0" indent="0">
              <a:buNone/>
            </a:pPr>
            <a:r>
              <a:rPr lang="en-US" sz="300" dirty="0">
                <a:solidFill>
                  <a:srgbClr val="FFFFFF"/>
                </a:solidFill>
                <a:latin typeface="Calibri" pitchFamily="34" charset="0"/>
              </a:rPr>
              <a:t> </a:t>
            </a:r>
          </a:p>
          <a:p>
            <a:r>
              <a:rPr lang="en-US" sz="1100" b="1" dirty="0">
                <a:solidFill>
                  <a:srgbClr val="F5C518"/>
                </a:solidFill>
                <a:latin typeface="Calibri" pitchFamily="34" charset="0"/>
              </a:rPr>
              <a:t>SW-QL-003  Raspberry Pi Imager v2.0.6</a:t>
            </a:r>
          </a:p>
          <a:p>
            <a:r>
              <a:rPr lang="en-US" sz="1050" dirty="0">
                <a:solidFill>
                  <a:srgbClr val="CBD5E1"/>
                </a:solidFill>
                <a:latin typeface="Calibri" pitchFamily="34" charset="0"/>
              </a:rPr>
              <a:t>Used to write the </a:t>
            </a:r>
            <a:r>
              <a:rPr lang="en-US" sz="1050" dirty="0" err="1">
                <a:solidFill>
                  <a:srgbClr val="CBD5E1"/>
                </a:solidFill>
                <a:latin typeface="Calibri" pitchFamily="34" charset="0"/>
              </a:rPr>
              <a:t>QiLab</a:t>
            </a:r>
            <a:r>
              <a:rPr lang="en-US" sz="1050" dirty="0">
                <a:solidFill>
                  <a:srgbClr val="CBD5E1"/>
                </a:solidFill>
                <a:latin typeface="Calibri" pitchFamily="34" charset="0"/>
              </a:rPr>
              <a:t> image to the SD card.</a:t>
            </a:r>
          </a:p>
          <a:p>
            <a:pPr marL="0" indent="0">
              <a:buNone/>
            </a:pPr>
            <a:r>
              <a:rPr lang="en-US" sz="300" dirty="0">
                <a:solidFill>
                  <a:srgbClr val="FFFFFF"/>
                </a:solidFill>
                <a:latin typeface="Calibri" pitchFamily="34"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_Heade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rPr>
              <a:t>Setup PC Environment</a:t>
            </a:r>
          </a:p>
        </p:txBody>
      </p:sp>
      <p:sp>
        <p:nvSpPr>
          <p:cNvPr id="6" name="Text_Subtitle"/>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rPr>
              <a:t>Install toolchain and packages before hardware setup</a:t>
            </a:r>
          </a:p>
        </p:txBody>
      </p:sp>
      <p:sp>
        <p:nvSpPr>
          <p:cNvPr id="10" name="Card_Setup"/>
          <p:cNvSpPr/>
          <p:nvPr/>
        </p:nvSpPr>
        <p:spPr>
          <a:xfrm>
            <a:off x="320040" y="1115568"/>
            <a:ext cx="8503920" cy="36396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1" name="Card_Setup_Bar"/>
          <p:cNvSpPr/>
          <p:nvPr/>
        </p:nvSpPr>
        <p:spPr>
          <a:xfrm>
            <a:off x="320040" y="1115568"/>
            <a:ext cx="8503920" cy="36576"/>
          </a:xfrm>
          <a:prstGeom prst="rect">
            <a:avLst/>
          </a:prstGeom>
          <a:solidFill>
            <a:srgbClr val="F5C518"/>
          </a:solidFill>
          <a:ln w="12700">
            <a:solidFill>
              <a:srgbClr val="F5C518"/>
            </a:solidFill>
            <a:prstDash val="solid"/>
          </a:ln>
        </p:spPr>
        <p:txBody>
          <a:bodyPr/>
          <a:lstStyle/>
          <a:p>
            <a:endParaRPr lang="nl-NL"/>
          </a:p>
        </p:txBody>
      </p:sp>
      <p:sp>
        <p:nvSpPr>
          <p:cNvPr id="12" name="Text_Setup_Body"/>
          <p:cNvSpPr/>
          <p:nvPr/>
        </p:nvSpPr>
        <p:spPr>
          <a:xfrm>
            <a:off x="548640" y="1200000"/>
            <a:ext cx="8046720" cy="3500000"/>
          </a:xfrm>
          <a:prstGeom prst="rect">
            <a:avLst/>
          </a:prstGeom>
          <a:noFill/>
          <a:ln/>
        </p:spPr>
        <p:txBody>
          <a:bodyPr wrap="square" rtlCol="0" anchor="t"/>
          <a:lstStyle/>
          <a:p>
            <a:pPr marL="0" indent="0">
              <a:buNone/>
            </a:pPr>
            <a:r>
              <a:rPr lang="en-US" sz="1600" b="1" dirty="0">
                <a:solidFill>
                  <a:srgbClr val="F5C518"/>
                </a:solidFill>
                <a:latin typeface="Calibri" pitchFamily="34" charset="0"/>
              </a:rPr>
              <a:t>General</a:t>
            </a:r>
          </a:p>
          <a:p>
            <a:pPr lvl="1"/>
            <a:r>
              <a:rPr lang="en-US" sz="1600" dirty="0">
                <a:solidFill>
                  <a:srgbClr val="CBD5E1"/>
                </a:solidFill>
                <a:latin typeface="Calibri" pitchFamily="34" charset="0"/>
              </a:rPr>
              <a:t>1. Set static IP address on PC. Use one between 192.168.0.10 – 192.168.0.99</a:t>
            </a:r>
          </a:p>
          <a:p>
            <a:pPr marL="0" indent="0">
              <a:buNone/>
            </a:pPr>
            <a:r>
              <a:rPr lang="en-US" sz="300" dirty="0">
                <a:solidFill>
                  <a:srgbClr val="FFFFFF"/>
                </a:solidFill>
              </a:rPr>
              <a:t> </a:t>
            </a:r>
          </a:p>
          <a:p>
            <a:pPr marL="0" indent="0">
              <a:buNone/>
            </a:pPr>
            <a:r>
              <a:rPr lang="en-US" sz="300" dirty="0">
                <a:solidFill>
                  <a:srgbClr val="FFFFFF"/>
                </a:solidFill>
              </a:rPr>
              <a:t> </a:t>
            </a:r>
          </a:p>
          <a:p>
            <a:pPr marL="0" indent="0">
              <a:buNone/>
            </a:pPr>
            <a:r>
              <a:rPr lang="en-US" sz="1600" b="1" dirty="0">
                <a:solidFill>
                  <a:srgbClr val="F5C518"/>
                </a:solidFill>
                <a:latin typeface="Calibri" pitchFamily="34" charset="0"/>
              </a:rPr>
              <a:t>QiLab</a:t>
            </a:r>
            <a:endParaRPr lang="en-US" sz="1000" b="1" dirty="0">
              <a:solidFill>
                <a:srgbClr val="F5C518"/>
              </a:solidFill>
              <a:latin typeface="Calibri" pitchFamily="34" charset="0"/>
            </a:endParaRPr>
          </a:p>
          <a:p>
            <a:pPr marL="457200" indent="0">
              <a:buNone/>
            </a:pPr>
            <a:r>
              <a:rPr lang="en-US" sz="1600" dirty="0">
                <a:solidFill>
                  <a:srgbClr val="CBD5E1"/>
                </a:solidFill>
                <a:latin typeface="Calibri" pitchFamily="34" charset="0"/>
              </a:rPr>
              <a:t>6.  Install Raspberry Pi Imager</a:t>
            </a:r>
          </a:p>
          <a:p>
            <a:pPr marL="457200" indent="0">
              <a:buNone/>
            </a:pPr>
            <a:r>
              <a:rPr lang="en-US" sz="1600" dirty="0">
                <a:solidFill>
                  <a:srgbClr val="CBD5E1"/>
                </a:solidFill>
                <a:latin typeface="Calibri" pitchFamily="34" charset="0"/>
              </a:rPr>
              <a:t>7.  (opt.) Install VS Code with Pico extension – only if you get fresh HAT without firmware</a:t>
            </a:r>
          </a:p>
          <a:p>
            <a:pPr marL="0" indent="0">
              <a:buNone/>
            </a:pPr>
            <a:r>
              <a:rPr lang="en-US" sz="300" dirty="0">
                <a:solidFill>
                  <a:srgbClr val="FFFFFF"/>
                </a:solidFill>
              </a:rPr>
              <a:t> </a:t>
            </a:r>
          </a:p>
        </p:txBody>
      </p:sp>
      <p:sp>
        <p:nvSpPr>
          <p:cNvPr id="97" name="Shape_Footer_BG"/>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99" name="Text_Footer_Right"/>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14 / 32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E59CD-CD89-4D82-5B73-72C8F15196F6}"/>
            </a:ext>
          </a:extLst>
        </p:cNvPr>
        <p:cNvGrpSpPr/>
        <p:nvPr/>
      </p:nvGrpSpPr>
      <p:grpSpPr>
        <a:xfrm>
          <a:off x="0" y="0"/>
          <a:ext cx="0" cy="0"/>
          <a:chOff x="0" y="0"/>
          <a:chExt cx="0" cy="0"/>
        </a:xfrm>
      </p:grpSpPr>
      <p:sp>
        <p:nvSpPr>
          <p:cNvPr id="2" name="Shape_Header">
            <a:extLst>
              <a:ext uri="{FF2B5EF4-FFF2-40B4-BE49-F238E27FC236}">
                <a16:creationId xmlns:a16="http://schemas.microsoft.com/office/drawing/2014/main" id="{99A47FB0-E2CC-5825-B3B1-6081317D4806}"/>
              </a:ext>
            </a:extLst>
          </p:cNvP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a:extLst>
              <a:ext uri="{FF2B5EF4-FFF2-40B4-BE49-F238E27FC236}">
                <a16:creationId xmlns:a16="http://schemas.microsoft.com/office/drawing/2014/main" id="{C4EDB5B7-91B7-0832-CEE7-FF506080F8E9}"/>
              </a:ext>
            </a:extLst>
          </p:cNvP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5" name="Text_Title">
            <a:extLst>
              <a:ext uri="{FF2B5EF4-FFF2-40B4-BE49-F238E27FC236}">
                <a16:creationId xmlns:a16="http://schemas.microsoft.com/office/drawing/2014/main" id="{FC17B6A1-9A55-9CF4-6A0A-A3121A88C891}"/>
              </a:ext>
            </a:extLst>
          </p:cNvPr>
          <p:cNvSpPr/>
          <p:nvPr/>
        </p:nvSpPr>
        <p:spPr>
          <a:xfrm>
            <a:off x="411480" y="109728"/>
            <a:ext cx="7772400" cy="502920"/>
          </a:xfrm>
          <a:prstGeom prst="rect">
            <a:avLst/>
          </a:prstGeom>
          <a:noFill/>
          <a:ln/>
        </p:spPr>
        <p:txBody>
          <a:bodyPr wrap="square" lIns="0" tIns="0" rIns="0" bIns="0" rtlCol="0" anchor="ctr"/>
          <a:lstStyle/>
          <a:p>
            <a:r>
              <a:rPr lang="en-US" sz="2200" b="1" dirty="0">
                <a:solidFill>
                  <a:srgbClr val="FFFFFF"/>
                </a:solidFill>
                <a:latin typeface="Calibri" pitchFamily="34" charset="0"/>
              </a:rPr>
              <a:t>Setup PC Environment</a:t>
            </a:r>
          </a:p>
        </p:txBody>
      </p:sp>
      <p:sp>
        <p:nvSpPr>
          <p:cNvPr id="6" name="Text_Subtitle">
            <a:extLst>
              <a:ext uri="{FF2B5EF4-FFF2-40B4-BE49-F238E27FC236}">
                <a16:creationId xmlns:a16="http://schemas.microsoft.com/office/drawing/2014/main" id="{775582AA-37BF-621D-5D2E-DCDD19D2E1B7}"/>
              </a:ext>
            </a:extLst>
          </p:cNvPr>
          <p:cNvSpPr/>
          <p:nvPr/>
        </p:nvSpPr>
        <p:spPr>
          <a:xfrm>
            <a:off x="411480" y="612648"/>
            <a:ext cx="7772400" cy="274320"/>
          </a:xfrm>
          <a:prstGeom prst="rect">
            <a:avLst/>
          </a:prstGeom>
          <a:noFill/>
          <a:ln/>
        </p:spPr>
        <p:txBody>
          <a:bodyPr wrap="square" lIns="0" tIns="0" rIns="0" bIns="0" rtlCol="0" anchor="ctr"/>
          <a:lstStyle/>
          <a:p>
            <a:r>
              <a:rPr lang="en-US" sz="1100" dirty="0">
                <a:solidFill>
                  <a:srgbClr val="9DB8E0"/>
                </a:solidFill>
                <a:latin typeface="Calibri" pitchFamily="34" charset="0"/>
              </a:rPr>
              <a:t>Install toolchain and packages before hardware setup</a:t>
            </a:r>
          </a:p>
        </p:txBody>
      </p:sp>
      <p:sp>
        <p:nvSpPr>
          <p:cNvPr id="10" name="Step_BG_10">
            <a:extLst>
              <a:ext uri="{FF2B5EF4-FFF2-40B4-BE49-F238E27FC236}">
                <a16:creationId xmlns:a16="http://schemas.microsoft.com/office/drawing/2014/main" id="{A2AD542E-E0EF-B334-9C4E-F45C35EE88B0}"/>
              </a:ext>
            </a:extLst>
          </p:cNvPr>
          <p:cNvSpPr/>
          <p:nvPr/>
        </p:nvSpPr>
        <p:spPr>
          <a:xfrm>
            <a:off x="320040" y="1115568"/>
            <a:ext cx="1664208" cy="36396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1" name="Step_Bar_10">
            <a:extLst>
              <a:ext uri="{FF2B5EF4-FFF2-40B4-BE49-F238E27FC236}">
                <a16:creationId xmlns:a16="http://schemas.microsoft.com/office/drawing/2014/main" id="{05627771-5D52-11C0-F991-2D428388DBC6}"/>
              </a:ext>
            </a:extLst>
          </p:cNvPr>
          <p:cNvSpPr/>
          <p:nvPr/>
        </p:nvSpPr>
        <p:spPr>
          <a:xfrm>
            <a:off x="320040" y="1115568"/>
            <a:ext cx="1664208" cy="36576"/>
          </a:xfrm>
          <a:prstGeom prst="rect">
            <a:avLst/>
          </a:prstGeom>
          <a:solidFill>
            <a:srgbClr val="F5C518"/>
          </a:solidFill>
          <a:ln w="12700">
            <a:solidFill>
              <a:srgbClr val="F5C518"/>
            </a:solidFill>
            <a:prstDash val="solid"/>
          </a:ln>
        </p:spPr>
        <p:txBody>
          <a:bodyPr/>
          <a:lstStyle/>
          <a:p>
            <a:endParaRPr lang="nl-NL"/>
          </a:p>
        </p:txBody>
      </p:sp>
      <p:sp>
        <p:nvSpPr>
          <p:cNvPr id="12" name="Step_Num_10">
            <a:extLst>
              <a:ext uri="{FF2B5EF4-FFF2-40B4-BE49-F238E27FC236}">
                <a16:creationId xmlns:a16="http://schemas.microsoft.com/office/drawing/2014/main" id="{39500DD5-5385-3D36-3631-300992A45F68}"/>
              </a:ext>
            </a:extLst>
          </p:cNvPr>
          <p:cNvSpPr/>
          <p:nvPr/>
        </p:nvSpPr>
        <p:spPr>
          <a:xfrm>
            <a:off x="320040" y="1165568"/>
            <a:ext cx="1664208" cy="500000"/>
          </a:xfrm>
          <a:prstGeom prst="rect">
            <a:avLst/>
          </a:prstGeom>
          <a:noFill/>
          <a:ln/>
        </p:spPr>
        <p:txBody>
          <a:bodyPr wrap="square" lIns="0" tIns="0" rIns="0" bIns="0" rtlCol="0" anchor="ctr"/>
          <a:lstStyle/>
          <a:p>
            <a:pPr marL="0" indent="0" algn="ctr">
              <a:buNone/>
            </a:pPr>
            <a:r>
              <a:rPr lang="en-US" sz="3200" b="1" dirty="0">
                <a:solidFill>
                  <a:schemeClr val="accent2">
                    <a:lumMod val="60000"/>
                    <a:lumOff val="40000"/>
                  </a:schemeClr>
                </a:solidFill>
                <a:latin typeface="Calibri" pitchFamily="34" charset="0"/>
              </a:rPr>
              <a:t>1</a:t>
            </a:r>
          </a:p>
        </p:txBody>
      </p:sp>
      <p:sp>
        <p:nvSpPr>
          <p:cNvPr id="13" name="Step_Title_10">
            <a:extLst>
              <a:ext uri="{FF2B5EF4-FFF2-40B4-BE49-F238E27FC236}">
                <a16:creationId xmlns:a16="http://schemas.microsoft.com/office/drawing/2014/main" id="{D0F33410-FAE5-3C2A-B24D-5183C476855B}"/>
              </a:ext>
            </a:extLst>
          </p:cNvPr>
          <p:cNvSpPr/>
          <p:nvPr/>
        </p:nvSpPr>
        <p:spPr>
          <a:xfrm>
            <a:off x="365760" y="1715568"/>
            <a:ext cx="1572768" cy="300000"/>
          </a:xfrm>
          <a:prstGeom prst="rect">
            <a:avLst/>
          </a:prstGeom>
          <a:noFill/>
          <a:ln/>
        </p:spPr>
        <p:txBody>
          <a:bodyPr wrap="square" lIns="0" tIns="0" rIns="0" bIns="0" rtlCol="0" anchor="ctr"/>
          <a:lstStyle/>
          <a:p>
            <a:pPr marL="0" indent="0" algn="ctr">
              <a:buNone/>
            </a:pPr>
            <a:r>
              <a:rPr lang="en-US" sz="1400" b="1" dirty="0">
                <a:solidFill>
                  <a:srgbClr val="F5C518"/>
                </a:solidFill>
                <a:latin typeface="Calibri" pitchFamily="34" charset="0"/>
              </a:rPr>
              <a:t>Set static IP address</a:t>
            </a:r>
          </a:p>
        </p:txBody>
      </p:sp>
      <p:sp>
        <p:nvSpPr>
          <p:cNvPr id="14" name="Step_Body_10">
            <a:extLst>
              <a:ext uri="{FF2B5EF4-FFF2-40B4-BE49-F238E27FC236}">
                <a16:creationId xmlns:a16="http://schemas.microsoft.com/office/drawing/2014/main" id="{2EE25218-9B01-751C-30F3-1F64823292E0}"/>
              </a:ext>
            </a:extLst>
          </p:cNvPr>
          <p:cNvSpPr/>
          <p:nvPr/>
        </p:nvSpPr>
        <p:spPr>
          <a:xfrm>
            <a:off x="365760" y="2065568"/>
            <a:ext cx="1572768" cy="2589600"/>
          </a:xfrm>
          <a:prstGeom prst="rect">
            <a:avLst/>
          </a:prstGeom>
          <a:noFill/>
          <a:ln/>
        </p:spPr>
        <p:txBody>
          <a:bodyPr wrap="square" rtlCol="0" anchor="t"/>
          <a:lstStyle/>
          <a:p>
            <a:pPr marL="171450" indent="-171450">
              <a:buFont typeface="Arial" panose="020B0604020202020204" pitchFamily="34" charset="0"/>
              <a:buChar char="•"/>
            </a:pPr>
            <a:r>
              <a:rPr lang="en-US" sz="1200" dirty="0">
                <a:solidFill>
                  <a:srgbClr val="CBD5E1"/>
                </a:solidFill>
                <a:latin typeface="Calibri" pitchFamily="34" charset="0"/>
              </a:rPr>
              <a:t>Set static IP address on PC. Use one between 192.168.0.10 – 192.168.0.99</a:t>
            </a:r>
          </a:p>
          <a:p>
            <a:pPr marL="171450" indent="-171450">
              <a:buFont typeface="Arial" panose="020B0604020202020204" pitchFamily="34" charset="0"/>
              <a:buChar char="•"/>
            </a:pPr>
            <a:r>
              <a:rPr lang="en-US" sz="1200" dirty="0">
                <a:solidFill>
                  <a:srgbClr val="CBD5E1"/>
                </a:solidFill>
                <a:latin typeface="Calibri" pitchFamily="34" charset="0"/>
              </a:rPr>
              <a:t>On Linux depending on the distribution, can be done from UI, or command line(UI preferred way)</a:t>
            </a:r>
          </a:p>
          <a:p>
            <a:pPr marL="171450" indent="-171450">
              <a:buFont typeface="Arial" panose="020B0604020202020204" pitchFamily="34" charset="0"/>
              <a:buChar char="•"/>
            </a:pPr>
            <a:endParaRPr lang="en-US" sz="1200" dirty="0">
              <a:solidFill>
                <a:srgbClr val="CBD5E1"/>
              </a:solidFill>
              <a:latin typeface="Calibri" pitchFamily="34" charset="0"/>
            </a:endParaRPr>
          </a:p>
          <a:p>
            <a:pPr marL="0" indent="0" algn="ctr">
              <a:buNone/>
            </a:pPr>
            <a:endParaRPr lang="en-US" sz="1200" dirty="0">
              <a:solidFill>
                <a:srgbClr val="CBD5E1"/>
              </a:solidFill>
              <a:latin typeface="Calibri" pitchFamily="34" charset="0"/>
            </a:endParaRPr>
          </a:p>
          <a:p>
            <a:pPr marL="0" indent="0" algn="ctr">
              <a:buNone/>
            </a:pPr>
            <a:endParaRPr lang="en-US" sz="800" dirty="0">
              <a:solidFill>
                <a:srgbClr val="CBD5E1"/>
              </a:solidFill>
              <a:latin typeface="Calibri" pitchFamily="34" charset="0"/>
            </a:endParaRPr>
          </a:p>
        </p:txBody>
      </p:sp>
      <p:sp>
        <p:nvSpPr>
          <p:cNvPr id="97" name="Shape_Footer_BG">
            <a:extLst>
              <a:ext uri="{FF2B5EF4-FFF2-40B4-BE49-F238E27FC236}">
                <a16:creationId xmlns:a16="http://schemas.microsoft.com/office/drawing/2014/main" id="{31311C9F-F233-3138-FBEF-F17ED6BDA044}"/>
              </a:ext>
            </a:extLst>
          </p:cNvPr>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a:extLst>
              <a:ext uri="{FF2B5EF4-FFF2-40B4-BE49-F238E27FC236}">
                <a16:creationId xmlns:a16="http://schemas.microsoft.com/office/drawing/2014/main" id="{52048348-A0B0-FAB0-35A9-FD17915495B7}"/>
              </a:ext>
            </a:extLst>
          </p:cNvPr>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18" name="Text 9">
            <a:extLst>
              <a:ext uri="{FF2B5EF4-FFF2-40B4-BE49-F238E27FC236}">
                <a16:creationId xmlns:a16="http://schemas.microsoft.com/office/drawing/2014/main" id="{2A04EE4C-F7B7-76C3-5732-F8FBAFDB7F8A}"/>
              </a:ext>
            </a:extLst>
          </p:cNvPr>
          <p:cNvSpPr/>
          <p:nvPr/>
        </p:nvSpPr>
        <p:spPr>
          <a:xfrm>
            <a:off x="3841040" y="1657556"/>
            <a:ext cx="6367584" cy="656391"/>
          </a:xfrm>
          <a:prstGeom prst="rect">
            <a:avLst/>
          </a:prstGeom>
          <a:noFill/>
          <a:ln/>
        </p:spPr>
        <p:txBody>
          <a:bodyPr wrap="square" lIns="0" tIns="0" rIns="0" bIns="0" rtlCol="0" anchor="t"/>
          <a:lstStyle/>
          <a:p>
            <a:pPr marL="0" indent="0">
              <a:lnSpc>
                <a:spcPct val="120000"/>
              </a:lnSpc>
              <a:buNone/>
            </a:pPr>
            <a:endParaRPr lang="en-US" sz="1350" dirty="0"/>
          </a:p>
        </p:txBody>
      </p:sp>
      <p:pic>
        <p:nvPicPr>
          <p:cNvPr id="20" name="Picture 19">
            <a:extLst>
              <a:ext uri="{FF2B5EF4-FFF2-40B4-BE49-F238E27FC236}">
                <a16:creationId xmlns:a16="http://schemas.microsoft.com/office/drawing/2014/main" id="{646C12EB-6EF5-7440-AF7C-040FE197CEFC}"/>
              </a:ext>
            </a:extLst>
          </p:cNvPr>
          <p:cNvPicPr>
            <a:picLocks noChangeAspect="1"/>
          </p:cNvPicPr>
          <p:nvPr/>
        </p:nvPicPr>
        <p:blipFill>
          <a:blip r:embed="rId2"/>
          <a:stretch>
            <a:fillRect/>
          </a:stretch>
        </p:blipFill>
        <p:spPr>
          <a:xfrm>
            <a:off x="2275988" y="1184469"/>
            <a:ext cx="6270100" cy="3625275"/>
          </a:xfrm>
          <a:prstGeom prst="rect">
            <a:avLst/>
          </a:prstGeom>
        </p:spPr>
      </p:pic>
      <p:sp>
        <p:nvSpPr>
          <p:cNvPr id="22" name="Text_Footer_Right">
            <a:extLst>
              <a:ext uri="{FF2B5EF4-FFF2-40B4-BE49-F238E27FC236}">
                <a16:creationId xmlns:a16="http://schemas.microsoft.com/office/drawing/2014/main" id="{165DFF35-77B0-9F90-F96B-07D5CDA64FFC}"/>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15 / 32</a:t>
            </a:r>
          </a:p>
        </p:txBody>
      </p:sp>
    </p:spTree>
    <p:extLst>
      <p:ext uri="{BB962C8B-B14F-4D97-AF65-F5344CB8AC3E}">
        <p14:creationId xmlns:p14="http://schemas.microsoft.com/office/powerpoint/2010/main" val="3751176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2D9AFD2-1A8D-28CE-8A4F-0FB988727CEB}"/>
            </a:ext>
          </a:extLst>
        </p:cNvPr>
        <p:cNvGrpSpPr/>
        <p:nvPr/>
      </p:nvGrpSpPr>
      <p:grpSpPr>
        <a:xfrm>
          <a:off x="0" y="0"/>
          <a:ext cx="0" cy="0"/>
          <a:chOff x="0" y="0"/>
          <a:chExt cx="0" cy="0"/>
        </a:xfrm>
      </p:grpSpPr>
      <p:sp>
        <p:nvSpPr>
          <p:cNvPr id="2" name="Shape_Header">
            <a:extLst>
              <a:ext uri="{FF2B5EF4-FFF2-40B4-BE49-F238E27FC236}">
                <a16:creationId xmlns:a16="http://schemas.microsoft.com/office/drawing/2014/main" id="{E5EB4AE8-B22B-5DFC-CC73-B336CF501A22}"/>
              </a:ext>
            </a:extLst>
          </p:cNvP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a:extLst>
              <a:ext uri="{FF2B5EF4-FFF2-40B4-BE49-F238E27FC236}">
                <a16:creationId xmlns:a16="http://schemas.microsoft.com/office/drawing/2014/main" id="{0D2A1053-3633-5447-8738-408D07F10CA1}"/>
              </a:ext>
            </a:extLst>
          </p:cNvP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a:extLst>
              <a:ext uri="{FF2B5EF4-FFF2-40B4-BE49-F238E27FC236}">
                <a16:creationId xmlns:a16="http://schemas.microsoft.com/office/drawing/2014/main" id="{B4E56E3C-04F3-B941-5BE1-41A80844BB3B}"/>
              </a:ext>
            </a:extLst>
          </p:cNvP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a:extLst>
              <a:ext uri="{FF2B5EF4-FFF2-40B4-BE49-F238E27FC236}">
                <a16:creationId xmlns:a16="http://schemas.microsoft.com/office/drawing/2014/main" id="{7A2E154B-5DA7-BD53-5986-7A6D83BEC33E}"/>
              </a:ext>
            </a:extLst>
          </p:cNvPr>
          <p:cNvSpPr/>
          <p:nvPr/>
        </p:nvSpPr>
        <p:spPr>
          <a:xfrm>
            <a:off x="411480" y="109728"/>
            <a:ext cx="7772400" cy="502920"/>
          </a:xfrm>
          <a:prstGeom prst="rect">
            <a:avLst/>
          </a:prstGeom>
          <a:noFill/>
          <a:ln/>
        </p:spPr>
        <p:txBody>
          <a:bodyPr wrap="square" lIns="0" tIns="0" rIns="0" bIns="0" rtlCol="0" anchor="ctr"/>
          <a:lstStyle/>
          <a:p>
            <a:r>
              <a:rPr lang="en-US" sz="2200" b="1" dirty="0">
                <a:solidFill>
                  <a:srgbClr val="FFFFFF"/>
                </a:solidFill>
                <a:latin typeface="Calibri" pitchFamily="34" charset="0"/>
              </a:rPr>
              <a:t>Setup and Run </a:t>
            </a:r>
            <a:r>
              <a:rPr lang="en-US" sz="2200" b="1" dirty="0" err="1">
                <a:solidFill>
                  <a:srgbClr val="FFFFFF"/>
                </a:solidFill>
                <a:latin typeface="Calibri" pitchFamily="34" charset="0"/>
              </a:rPr>
              <a:t>QiLab</a:t>
            </a:r>
            <a:endParaRPr lang="en-US" sz="2200" b="1" dirty="0">
              <a:solidFill>
                <a:srgbClr val="FFFFFF"/>
              </a:solidFill>
              <a:latin typeface="Calibri" pitchFamily="34" charset="0"/>
            </a:endParaRPr>
          </a:p>
        </p:txBody>
      </p:sp>
      <p:sp>
        <p:nvSpPr>
          <p:cNvPr id="6" name="Text_Subtitle">
            <a:extLst>
              <a:ext uri="{FF2B5EF4-FFF2-40B4-BE49-F238E27FC236}">
                <a16:creationId xmlns:a16="http://schemas.microsoft.com/office/drawing/2014/main" id="{33245E01-CC1A-5E2B-02F9-488FD8ACF592}"/>
              </a:ext>
            </a:extLst>
          </p:cNvPr>
          <p:cNvSpPr/>
          <p:nvPr/>
        </p:nvSpPr>
        <p:spPr>
          <a:xfrm>
            <a:off x="411480" y="612648"/>
            <a:ext cx="7772400" cy="274320"/>
          </a:xfrm>
          <a:prstGeom prst="rect">
            <a:avLst/>
          </a:prstGeom>
          <a:noFill/>
          <a:ln/>
        </p:spPr>
        <p:txBody>
          <a:bodyPr wrap="square" lIns="0" tIns="0" rIns="0" bIns="0" rtlCol="0" anchor="ctr"/>
          <a:lstStyle/>
          <a:p>
            <a:r>
              <a:rPr lang="en-US" sz="1100" dirty="0">
                <a:solidFill>
                  <a:srgbClr val="9DB8E0"/>
                </a:solidFill>
                <a:latin typeface="Calibri" pitchFamily="34" charset="0"/>
              </a:rPr>
              <a:t>Flash the image and access the platform</a:t>
            </a:r>
          </a:p>
        </p:txBody>
      </p:sp>
      <p:sp>
        <p:nvSpPr>
          <p:cNvPr id="10" name="Card_Setup">
            <a:extLst>
              <a:ext uri="{FF2B5EF4-FFF2-40B4-BE49-F238E27FC236}">
                <a16:creationId xmlns:a16="http://schemas.microsoft.com/office/drawing/2014/main" id="{8BEF94A9-088B-8351-8527-DD84AC1C6BCC}"/>
              </a:ext>
            </a:extLst>
          </p:cNvPr>
          <p:cNvSpPr/>
          <p:nvPr/>
        </p:nvSpPr>
        <p:spPr>
          <a:xfrm>
            <a:off x="320040" y="1115568"/>
            <a:ext cx="8503920" cy="36396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1" name="Card_Setup_Bar">
            <a:extLst>
              <a:ext uri="{FF2B5EF4-FFF2-40B4-BE49-F238E27FC236}">
                <a16:creationId xmlns:a16="http://schemas.microsoft.com/office/drawing/2014/main" id="{B7CCF965-2E06-5D30-827D-F018DF3ABCF6}"/>
              </a:ext>
            </a:extLst>
          </p:cNvPr>
          <p:cNvSpPr/>
          <p:nvPr/>
        </p:nvSpPr>
        <p:spPr>
          <a:xfrm>
            <a:off x="320040" y="1115568"/>
            <a:ext cx="8503920" cy="36576"/>
          </a:xfrm>
          <a:prstGeom prst="rect">
            <a:avLst/>
          </a:prstGeom>
          <a:solidFill>
            <a:srgbClr val="F5C518"/>
          </a:solidFill>
          <a:ln w="12700">
            <a:solidFill>
              <a:srgbClr val="F5C518"/>
            </a:solidFill>
            <a:prstDash val="solid"/>
          </a:ln>
        </p:spPr>
        <p:txBody>
          <a:bodyPr/>
          <a:lstStyle/>
          <a:p>
            <a:endParaRPr lang="nl-NL"/>
          </a:p>
        </p:txBody>
      </p:sp>
      <p:sp>
        <p:nvSpPr>
          <p:cNvPr id="12" name="Text_Setup_Body">
            <a:extLst>
              <a:ext uri="{FF2B5EF4-FFF2-40B4-BE49-F238E27FC236}">
                <a16:creationId xmlns:a16="http://schemas.microsoft.com/office/drawing/2014/main" id="{AE7283E7-B67E-A56F-6057-BFA057D42D0F}"/>
              </a:ext>
            </a:extLst>
          </p:cNvPr>
          <p:cNvSpPr/>
          <p:nvPr/>
        </p:nvSpPr>
        <p:spPr>
          <a:xfrm>
            <a:off x="548640" y="1200000"/>
            <a:ext cx="8046720" cy="3500000"/>
          </a:xfrm>
          <a:prstGeom prst="rect">
            <a:avLst/>
          </a:prstGeom>
          <a:noFill/>
          <a:ln/>
        </p:spPr>
        <p:txBody>
          <a:bodyPr wrap="square" rtlCol="0" anchor="t"/>
          <a:lstStyle/>
          <a:p>
            <a:pPr marL="0" indent="0">
              <a:buNone/>
            </a:pPr>
            <a:r>
              <a:rPr lang="en-US" sz="1600" b="1" dirty="0">
                <a:solidFill>
                  <a:srgbClr val="F5C518"/>
                </a:solidFill>
                <a:latin typeface="Calibri" pitchFamily="34" charset="0"/>
              </a:rPr>
              <a:t>Steps</a:t>
            </a:r>
          </a:p>
          <a:p>
            <a:pPr marL="0" indent="0">
              <a:buNone/>
            </a:pPr>
            <a:endParaRPr lang="en-US" sz="1600" b="1" dirty="0">
              <a:solidFill>
                <a:srgbClr val="F5C518"/>
              </a:solidFill>
              <a:latin typeface="Calibri" pitchFamily="34" charset="0"/>
            </a:endParaRPr>
          </a:p>
          <a:p>
            <a:pPr marL="342900" indent="-342900">
              <a:buFont typeface="+mj-lt"/>
              <a:buAutoNum type="arabicPeriod"/>
            </a:pPr>
            <a:r>
              <a:rPr lang="en-US" sz="1600" dirty="0">
                <a:solidFill>
                  <a:srgbClr val="CBD5E1"/>
                </a:solidFill>
                <a:latin typeface="Calibri" pitchFamily="34" charset="0"/>
              </a:rPr>
              <a:t>Flash the SD Card</a:t>
            </a:r>
          </a:p>
          <a:p>
            <a:pPr marL="342900" indent="-342900">
              <a:buFont typeface="+mj-lt"/>
              <a:buAutoNum type="arabicPeriod"/>
            </a:pPr>
            <a:r>
              <a:rPr lang="en-US" sz="1600" dirty="0">
                <a:solidFill>
                  <a:srgbClr val="CBD5E1"/>
                </a:solidFill>
                <a:latin typeface="Calibri" pitchFamily="34" charset="0"/>
              </a:rPr>
              <a:t>Check web control for status and verify that everything is running fine</a:t>
            </a:r>
          </a:p>
          <a:p>
            <a:pPr marL="0" indent="0">
              <a:buNone/>
            </a:pPr>
            <a:r>
              <a:rPr lang="en-US" sz="300" dirty="0">
                <a:solidFill>
                  <a:srgbClr val="FFFFFF"/>
                </a:solidFill>
              </a:rPr>
              <a:t> </a:t>
            </a:r>
          </a:p>
          <a:p>
            <a:pPr marL="0" indent="0">
              <a:buNone/>
            </a:pPr>
            <a:r>
              <a:rPr lang="en-US" sz="300" dirty="0">
                <a:solidFill>
                  <a:srgbClr val="FFFFFF"/>
                </a:solidFill>
              </a:rPr>
              <a:t> </a:t>
            </a:r>
          </a:p>
        </p:txBody>
      </p:sp>
      <p:sp>
        <p:nvSpPr>
          <p:cNvPr id="97" name="Shape_Footer_BG">
            <a:extLst>
              <a:ext uri="{FF2B5EF4-FFF2-40B4-BE49-F238E27FC236}">
                <a16:creationId xmlns:a16="http://schemas.microsoft.com/office/drawing/2014/main" id="{47252200-1B2F-2F80-1EEB-0743076E5D92}"/>
              </a:ext>
            </a:extLst>
          </p:cNvPr>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a:extLst>
              <a:ext uri="{FF2B5EF4-FFF2-40B4-BE49-F238E27FC236}">
                <a16:creationId xmlns:a16="http://schemas.microsoft.com/office/drawing/2014/main" id="{FB49A7B5-8D94-348E-A2AB-71F62994D055}"/>
              </a:ext>
            </a:extLst>
          </p:cNvPr>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7" name="Text_Footer_Right">
            <a:extLst>
              <a:ext uri="{FF2B5EF4-FFF2-40B4-BE49-F238E27FC236}">
                <a16:creationId xmlns:a16="http://schemas.microsoft.com/office/drawing/2014/main" id="{FB003EBE-4668-06AE-2086-7473F600829A}"/>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20 / 32</a:t>
            </a:r>
          </a:p>
        </p:txBody>
      </p:sp>
    </p:spTree>
    <p:extLst>
      <p:ext uri="{BB962C8B-B14F-4D97-AF65-F5344CB8AC3E}">
        <p14:creationId xmlns:p14="http://schemas.microsoft.com/office/powerpoint/2010/main" val="443250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B6A51C-2510-9D55-E52B-B4B2588E10C7}"/>
            </a:ext>
          </a:extLst>
        </p:cNvPr>
        <p:cNvGrpSpPr/>
        <p:nvPr/>
      </p:nvGrpSpPr>
      <p:grpSpPr>
        <a:xfrm>
          <a:off x="0" y="0"/>
          <a:ext cx="0" cy="0"/>
          <a:chOff x="0" y="0"/>
          <a:chExt cx="0" cy="0"/>
        </a:xfrm>
      </p:grpSpPr>
      <p:sp>
        <p:nvSpPr>
          <p:cNvPr id="2" name="Shape_Header">
            <a:extLst>
              <a:ext uri="{FF2B5EF4-FFF2-40B4-BE49-F238E27FC236}">
                <a16:creationId xmlns:a16="http://schemas.microsoft.com/office/drawing/2014/main" id="{7499AAB0-2DA0-F665-32EC-80B039F5F4C2}"/>
              </a:ext>
            </a:extLst>
          </p:cNvP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a:extLst>
              <a:ext uri="{FF2B5EF4-FFF2-40B4-BE49-F238E27FC236}">
                <a16:creationId xmlns:a16="http://schemas.microsoft.com/office/drawing/2014/main" id="{782D84C2-1F32-A089-DE76-791681C1704C}"/>
              </a:ext>
            </a:extLst>
          </p:cNvP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a:extLst>
              <a:ext uri="{FF2B5EF4-FFF2-40B4-BE49-F238E27FC236}">
                <a16:creationId xmlns:a16="http://schemas.microsoft.com/office/drawing/2014/main" id="{D89F94E0-9EAD-1417-6A88-7AD12DECE24F}"/>
              </a:ext>
            </a:extLst>
          </p:cNvP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a:extLst>
              <a:ext uri="{FF2B5EF4-FFF2-40B4-BE49-F238E27FC236}">
                <a16:creationId xmlns:a16="http://schemas.microsoft.com/office/drawing/2014/main" id="{4B537A00-16CD-2B05-257D-E182C4468FA0}"/>
              </a:ext>
            </a:extLst>
          </p:cNvPr>
          <p:cNvSpPr/>
          <p:nvPr/>
        </p:nvSpPr>
        <p:spPr>
          <a:xfrm>
            <a:off x="411480" y="109728"/>
            <a:ext cx="7772400" cy="502920"/>
          </a:xfrm>
          <a:prstGeom prst="rect">
            <a:avLst/>
          </a:prstGeom>
          <a:noFill/>
          <a:ln/>
        </p:spPr>
        <p:txBody>
          <a:bodyPr wrap="square" lIns="0" tIns="0" rIns="0" bIns="0" rtlCol="0" anchor="ctr"/>
          <a:lstStyle/>
          <a:p>
            <a:r>
              <a:rPr lang="en-US" sz="2200" b="1" dirty="0">
                <a:solidFill>
                  <a:srgbClr val="FFFFFF"/>
                </a:solidFill>
                <a:latin typeface="Calibri" pitchFamily="34" charset="0"/>
              </a:rPr>
              <a:t>Setup and Run </a:t>
            </a:r>
            <a:r>
              <a:rPr lang="en-US" sz="2200" b="1" dirty="0" err="1">
                <a:solidFill>
                  <a:srgbClr val="FFFFFF"/>
                </a:solidFill>
                <a:latin typeface="Calibri" pitchFamily="34" charset="0"/>
              </a:rPr>
              <a:t>QiLab</a:t>
            </a:r>
            <a:endParaRPr lang="en-US" sz="2200" b="1" dirty="0">
              <a:solidFill>
                <a:srgbClr val="FFFFFF"/>
              </a:solidFill>
              <a:latin typeface="Calibri" pitchFamily="34" charset="0"/>
            </a:endParaRPr>
          </a:p>
        </p:txBody>
      </p:sp>
      <p:sp>
        <p:nvSpPr>
          <p:cNvPr id="6" name="Text_Subtitle">
            <a:extLst>
              <a:ext uri="{FF2B5EF4-FFF2-40B4-BE49-F238E27FC236}">
                <a16:creationId xmlns:a16="http://schemas.microsoft.com/office/drawing/2014/main" id="{35470558-1916-6A89-AEBD-CEF8605A0F89}"/>
              </a:ext>
            </a:extLst>
          </p:cNvPr>
          <p:cNvSpPr/>
          <p:nvPr/>
        </p:nvSpPr>
        <p:spPr>
          <a:xfrm>
            <a:off x="411480" y="612648"/>
            <a:ext cx="7772400" cy="274320"/>
          </a:xfrm>
          <a:prstGeom prst="rect">
            <a:avLst/>
          </a:prstGeom>
          <a:noFill/>
          <a:ln/>
        </p:spPr>
        <p:txBody>
          <a:bodyPr wrap="square" lIns="0" tIns="0" rIns="0" bIns="0" rtlCol="0" anchor="ctr"/>
          <a:lstStyle/>
          <a:p>
            <a:r>
              <a:rPr lang="en-US" sz="1100" dirty="0">
                <a:solidFill>
                  <a:srgbClr val="9DB8E0"/>
                </a:solidFill>
                <a:latin typeface="Calibri" pitchFamily="34" charset="0"/>
              </a:rPr>
              <a:t>Flash the image and access the platform</a:t>
            </a:r>
          </a:p>
        </p:txBody>
      </p:sp>
      <p:sp>
        <p:nvSpPr>
          <p:cNvPr id="10" name="Step_BG_10">
            <a:extLst>
              <a:ext uri="{FF2B5EF4-FFF2-40B4-BE49-F238E27FC236}">
                <a16:creationId xmlns:a16="http://schemas.microsoft.com/office/drawing/2014/main" id="{1AB03C53-FFEB-0465-4754-3031B0E5D919}"/>
              </a:ext>
            </a:extLst>
          </p:cNvPr>
          <p:cNvSpPr/>
          <p:nvPr/>
        </p:nvSpPr>
        <p:spPr>
          <a:xfrm>
            <a:off x="320040" y="1115568"/>
            <a:ext cx="1664208" cy="3639600"/>
          </a:xfrm>
          <a:prstGeom prst="rect">
            <a:avLst/>
          </a:prstGeom>
          <a:solidFill>
            <a:srgbClr val="1A2E5A"/>
          </a:solidFill>
          <a:ln w="12700">
            <a:solidFill>
              <a:srgbClr val="1A2E5A"/>
            </a:solidFill>
            <a:prstDash val="solid"/>
          </a:ln>
          <a:effectLst>
            <a:outerShdw blurRad="101600" dist="25400" dir="8100000" algn="bl" rotWithShape="0">
              <a:srgbClr val="000000">
                <a:alpha val="10000"/>
              </a:srgbClr>
            </a:outerShdw>
          </a:effectLst>
        </p:spPr>
        <p:txBody>
          <a:bodyPr/>
          <a:lstStyle/>
          <a:p>
            <a:endParaRPr lang="nl-NL"/>
          </a:p>
        </p:txBody>
      </p:sp>
      <p:sp>
        <p:nvSpPr>
          <p:cNvPr id="11" name="Step_Bar_10">
            <a:extLst>
              <a:ext uri="{FF2B5EF4-FFF2-40B4-BE49-F238E27FC236}">
                <a16:creationId xmlns:a16="http://schemas.microsoft.com/office/drawing/2014/main" id="{BA5E27BD-1876-C1A9-A9B6-BD4C091E3B4E}"/>
              </a:ext>
            </a:extLst>
          </p:cNvPr>
          <p:cNvSpPr/>
          <p:nvPr/>
        </p:nvSpPr>
        <p:spPr>
          <a:xfrm>
            <a:off x="320040" y="1115568"/>
            <a:ext cx="1664208" cy="36576"/>
          </a:xfrm>
          <a:prstGeom prst="rect">
            <a:avLst/>
          </a:prstGeom>
          <a:solidFill>
            <a:srgbClr val="F5C518"/>
          </a:solidFill>
          <a:ln w="12700">
            <a:solidFill>
              <a:srgbClr val="F5C518"/>
            </a:solidFill>
            <a:prstDash val="solid"/>
          </a:ln>
        </p:spPr>
        <p:txBody>
          <a:bodyPr/>
          <a:lstStyle/>
          <a:p>
            <a:endParaRPr lang="nl-NL"/>
          </a:p>
        </p:txBody>
      </p:sp>
      <p:sp>
        <p:nvSpPr>
          <p:cNvPr id="12" name="Step_Num_10">
            <a:extLst>
              <a:ext uri="{FF2B5EF4-FFF2-40B4-BE49-F238E27FC236}">
                <a16:creationId xmlns:a16="http://schemas.microsoft.com/office/drawing/2014/main" id="{176962CA-473A-0859-052D-A99233D9A355}"/>
              </a:ext>
            </a:extLst>
          </p:cNvPr>
          <p:cNvSpPr/>
          <p:nvPr/>
        </p:nvSpPr>
        <p:spPr>
          <a:xfrm>
            <a:off x="320040" y="1165568"/>
            <a:ext cx="1664208" cy="500000"/>
          </a:xfrm>
          <a:prstGeom prst="rect">
            <a:avLst/>
          </a:prstGeom>
          <a:noFill/>
          <a:ln/>
        </p:spPr>
        <p:txBody>
          <a:bodyPr wrap="square" lIns="0" tIns="0" rIns="0" bIns="0" rtlCol="0" anchor="ctr"/>
          <a:lstStyle/>
          <a:p>
            <a:pPr marL="0" indent="0" algn="ctr">
              <a:buNone/>
            </a:pPr>
            <a:r>
              <a:rPr lang="en-US" sz="3200" b="1" dirty="0">
                <a:solidFill>
                  <a:schemeClr val="accent2">
                    <a:lumMod val="60000"/>
                    <a:lumOff val="40000"/>
                  </a:schemeClr>
                </a:solidFill>
                <a:latin typeface="Calibri" pitchFamily="34" charset="0"/>
              </a:rPr>
              <a:t>1</a:t>
            </a:r>
          </a:p>
        </p:txBody>
      </p:sp>
      <p:sp>
        <p:nvSpPr>
          <p:cNvPr id="13" name="Step_Title_10">
            <a:extLst>
              <a:ext uri="{FF2B5EF4-FFF2-40B4-BE49-F238E27FC236}">
                <a16:creationId xmlns:a16="http://schemas.microsoft.com/office/drawing/2014/main" id="{182BB682-B922-CEB7-E3EF-976A0D02146C}"/>
              </a:ext>
            </a:extLst>
          </p:cNvPr>
          <p:cNvSpPr/>
          <p:nvPr/>
        </p:nvSpPr>
        <p:spPr>
          <a:xfrm>
            <a:off x="365760" y="1715568"/>
            <a:ext cx="1572768" cy="300000"/>
          </a:xfrm>
          <a:prstGeom prst="rect">
            <a:avLst/>
          </a:prstGeom>
          <a:noFill/>
          <a:ln/>
        </p:spPr>
        <p:txBody>
          <a:bodyPr wrap="square" lIns="0" tIns="0" rIns="0" bIns="0" rtlCol="0" anchor="ctr"/>
          <a:lstStyle/>
          <a:p>
            <a:pPr marL="0" indent="0" algn="ctr">
              <a:buNone/>
            </a:pPr>
            <a:r>
              <a:rPr lang="en-US" sz="1400" b="1" dirty="0">
                <a:solidFill>
                  <a:srgbClr val="F5C518"/>
                </a:solidFill>
                <a:latin typeface="Calibri" pitchFamily="34" charset="0"/>
              </a:rPr>
              <a:t>Flash the SD card</a:t>
            </a:r>
          </a:p>
        </p:txBody>
      </p:sp>
      <p:sp>
        <p:nvSpPr>
          <p:cNvPr id="14" name="Step_Body_10">
            <a:extLst>
              <a:ext uri="{FF2B5EF4-FFF2-40B4-BE49-F238E27FC236}">
                <a16:creationId xmlns:a16="http://schemas.microsoft.com/office/drawing/2014/main" id="{C18B7DF7-DA44-A014-765F-33AC01078DCA}"/>
              </a:ext>
            </a:extLst>
          </p:cNvPr>
          <p:cNvSpPr/>
          <p:nvPr/>
        </p:nvSpPr>
        <p:spPr>
          <a:xfrm>
            <a:off x="365760" y="2065568"/>
            <a:ext cx="1572768" cy="2589600"/>
          </a:xfrm>
          <a:prstGeom prst="rect">
            <a:avLst/>
          </a:prstGeom>
          <a:noFill/>
          <a:ln/>
        </p:spPr>
        <p:txBody>
          <a:bodyPr wrap="square" rtlCol="0" anchor="t"/>
          <a:lstStyle/>
          <a:p>
            <a:pPr marL="171450" indent="-171450">
              <a:buFont typeface="Arial" panose="020B0604020202020204" pitchFamily="34" charset="0"/>
              <a:buChar char="•"/>
            </a:pPr>
            <a:r>
              <a:rPr lang="en-US" sz="1200" dirty="0">
                <a:solidFill>
                  <a:srgbClr val="CBD5E1"/>
                </a:solidFill>
                <a:latin typeface="Calibri" pitchFamily="34" charset="0"/>
              </a:rPr>
              <a:t>Choose Use Custom and select the </a:t>
            </a:r>
            <a:r>
              <a:rPr lang="en-US" sz="1200" dirty="0" err="1">
                <a:solidFill>
                  <a:srgbClr val="CBD5E1"/>
                </a:solidFill>
                <a:latin typeface="Calibri" pitchFamily="34" charset="0"/>
              </a:rPr>
              <a:t>QiLab</a:t>
            </a:r>
            <a:r>
              <a:rPr lang="en-US" sz="1200" dirty="0">
                <a:solidFill>
                  <a:srgbClr val="CBD5E1"/>
                </a:solidFill>
                <a:latin typeface="Calibri" pitchFamily="34" charset="0"/>
              </a:rPr>
              <a:t> image</a:t>
            </a:r>
          </a:p>
          <a:p>
            <a:pPr marL="0" indent="0" algn="ctr">
              <a:buNone/>
            </a:pPr>
            <a:endParaRPr lang="en-US" sz="800" dirty="0">
              <a:solidFill>
                <a:srgbClr val="CBD5E1"/>
              </a:solidFill>
              <a:latin typeface="Calibri" pitchFamily="34" charset="0"/>
            </a:endParaRPr>
          </a:p>
        </p:txBody>
      </p:sp>
      <p:sp>
        <p:nvSpPr>
          <p:cNvPr id="97" name="Shape_Footer_BG">
            <a:extLst>
              <a:ext uri="{FF2B5EF4-FFF2-40B4-BE49-F238E27FC236}">
                <a16:creationId xmlns:a16="http://schemas.microsoft.com/office/drawing/2014/main" id="{B7E0528E-8677-F10A-DBBC-FDF8B8CE87EC}"/>
              </a:ext>
            </a:extLst>
          </p:cNvPr>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a:extLst>
              <a:ext uri="{FF2B5EF4-FFF2-40B4-BE49-F238E27FC236}">
                <a16:creationId xmlns:a16="http://schemas.microsoft.com/office/drawing/2014/main" id="{E3AACCA7-814A-FDAE-DC63-0C5749D56379}"/>
              </a:ext>
            </a:extLst>
          </p:cNvPr>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47" name="Text 9">
            <a:extLst>
              <a:ext uri="{FF2B5EF4-FFF2-40B4-BE49-F238E27FC236}">
                <a16:creationId xmlns:a16="http://schemas.microsoft.com/office/drawing/2014/main" id="{05713960-065D-7593-F17C-A9D046853E10}"/>
              </a:ext>
            </a:extLst>
          </p:cNvPr>
          <p:cNvSpPr/>
          <p:nvPr/>
        </p:nvSpPr>
        <p:spPr>
          <a:xfrm>
            <a:off x="2227777" y="1709928"/>
            <a:ext cx="6367584" cy="656391"/>
          </a:xfrm>
          <a:prstGeom prst="rect">
            <a:avLst/>
          </a:prstGeom>
          <a:noFill/>
          <a:ln/>
        </p:spPr>
        <p:txBody>
          <a:bodyPr wrap="square" lIns="0" tIns="0" rIns="0" bIns="0" rtlCol="0" anchor="t"/>
          <a:lstStyle/>
          <a:p>
            <a:pPr marL="0" indent="0">
              <a:lnSpc>
                <a:spcPct val="120000"/>
              </a:lnSpc>
              <a:buNone/>
            </a:pPr>
            <a:endParaRPr lang="en-US" sz="1350" dirty="0"/>
          </a:p>
        </p:txBody>
      </p:sp>
      <p:pic>
        <p:nvPicPr>
          <p:cNvPr id="7" name="Picture 6">
            <a:extLst>
              <a:ext uri="{FF2B5EF4-FFF2-40B4-BE49-F238E27FC236}">
                <a16:creationId xmlns:a16="http://schemas.microsoft.com/office/drawing/2014/main" id="{4F3793DA-75BB-4F09-994A-5219B0CFE48C}"/>
              </a:ext>
            </a:extLst>
          </p:cNvPr>
          <p:cNvPicPr>
            <a:picLocks noChangeAspect="1"/>
          </p:cNvPicPr>
          <p:nvPr/>
        </p:nvPicPr>
        <p:blipFill>
          <a:blip r:embed="rId2"/>
          <a:stretch>
            <a:fillRect/>
          </a:stretch>
        </p:blipFill>
        <p:spPr>
          <a:xfrm>
            <a:off x="3157152" y="1088930"/>
            <a:ext cx="5351711" cy="3665156"/>
          </a:xfrm>
          <a:prstGeom prst="rect">
            <a:avLst/>
          </a:prstGeom>
        </p:spPr>
      </p:pic>
      <p:sp>
        <p:nvSpPr>
          <p:cNvPr id="8" name="Text_Footer_Right">
            <a:extLst>
              <a:ext uri="{FF2B5EF4-FFF2-40B4-BE49-F238E27FC236}">
                <a16:creationId xmlns:a16="http://schemas.microsoft.com/office/drawing/2014/main" id="{01CF10E9-D7E1-FF96-62B7-3B9A1C7A81E3}"/>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21 / 32</a:t>
            </a:r>
          </a:p>
        </p:txBody>
      </p:sp>
    </p:spTree>
    <p:extLst>
      <p:ext uri="{BB962C8B-B14F-4D97-AF65-F5344CB8AC3E}">
        <p14:creationId xmlns:p14="http://schemas.microsoft.com/office/powerpoint/2010/main" val="285296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0F1D3A"/>
          </a:solidFill>
          <a:ln w="12700">
            <a:solidFill>
              <a:srgbClr val="0F1D3A"/>
            </a:solidFill>
            <a:prstDash val="solid"/>
          </a:ln>
        </p:spPr>
        <p:txBody>
          <a:bodyPr/>
          <a:lstStyle/>
          <a:p>
            <a:endParaRPr lang="nl-NL"/>
          </a:p>
        </p:txBody>
      </p:sp>
      <p:sp>
        <p:nvSpPr>
          <p:cNvPr id="3" name="Shape 1"/>
          <p:cNvSpPr/>
          <p:nvPr/>
        </p:nvSpPr>
        <p:spPr>
          <a:xfrm>
            <a:off x="594360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4" name="Shape 2"/>
          <p:cNvSpPr/>
          <p:nvPr/>
        </p:nvSpPr>
        <p:spPr>
          <a:xfrm>
            <a:off x="649224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5" name="Shape 3"/>
          <p:cNvSpPr/>
          <p:nvPr/>
        </p:nvSpPr>
        <p:spPr>
          <a:xfrm>
            <a:off x="704088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6" name="Shape 4"/>
          <p:cNvSpPr/>
          <p:nvPr/>
        </p:nvSpPr>
        <p:spPr>
          <a:xfrm>
            <a:off x="758952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7" name="Shape 5"/>
          <p:cNvSpPr/>
          <p:nvPr/>
        </p:nvSpPr>
        <p:spPr>
          <a:xfrm>
            <a:off x="8138160" y="457200"/>
            <a:ext cx="64008" cy="64008"/>
          </a:xfrm>
          <a:prstGeom prst="ellipse">
            <a:avLst/>
          </a:prstGeom>
          <a:solidFill>
            <a:srgbClr val="253D78"/>
          </a:solidFill>
          <a:ln w="12700">
            <a:solidFill>
              <a:srgbClr val="253D78"/>
            </a:solidFill>
            <a:prstDash val="solid"/>
          </a:ln>
        </p:spPr>
        <p:txBody>
          <a:bodyPr/>
          <a:lstStyle/>
          <a:p>
            <a:endParaRPr lang="nl-NL"/>
          </a:p>
        </p:txBody>
      </p:sp>
      <p:sp>
        <p:nvSpPr>
          <p:cNvPr id="8" name="Shape 6"/>
          <p:cNvSpPr/>
          <p:nvPr/>
        </p:nvSpPr>
        <p:spPr>
          <a:xfrm>
            <a:off x="594360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9" name="Shape 7"/>
          <p:cNvSpPr/>
          <p:nvPr/>
        </p:nvSpPr>
        <p:spPr>
          <a:xfrm>
            <a:off x="649224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0" name="Shape 8"/>
          <p:cNvSpPr/>
          <p:nvPr/>
        </p:nvSpPr>
        <p:spPr>
          <a:xfrm>
            <a:off x="704088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1" name="Shape 9"/>
          <p:cNvSpPr/>
          <p:nvPr/>
        </p:nvSpPr>
        <p:spPr>
          <a:xfrm>
            <a:off x="758952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2" name="Shape 10"/>
          <p:cNvSpPr/>
          <p:nvPr/>
        </p:nvSpPr>
        <p:spPr>
          <a:xfrm>
            <a:off x="8138160" y="1188720"/>
            <a:ext cx="64008" cy="64008"/>
          </a:xfrm>
          <a:prstGeom prst="ellipse">
            <a:avLst/>
          </a:prstGeom>
          <a:solidFill>
            <a:srgbClr val="253D78"/>
          </a:solidFill>
          <a:ln w="12700">
            <a:solidFill>
              <a:srgbClr val="253D78"/>
            </a:solidFill>
            <a:prstDash val="solid"/>
          </a:ln>
        </p:spPr>
        <p:txBody>
          <a:bodyPr/>
          <a:lstStyle/>
          <a:p>
            <a:endParaRPr lang="nl-NL"/>
          </a:p>
        </p:txBody>
      </p:sp>
      <p:sp>
        <p:nvSpPr>
          <p:cNvPr id="13" name="Shape 11"/>
          <p:cNvSpPr/>
          <p:nvPr/>
        </p:nvSpPr>
        <p:spPr>
          <a:xfrm>
            <a:off x="594360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4" name="Shape 12"/>
          <p:cNvSpPr/>
          <p:nvPr/>
        </p:nvSpPr>
        <p:spPr>
          <a:xfrm>
            <a:off x="649224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5" name="Shape 13"/>
          <p:cNvSpPr/>
          <p:nvPr/>
        </p:nvSpPr>
        <p:spPr>
          <a:xfrm>
            <a:off x="704088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6" name="Shape 14"/>
          <p:cNvSpPr/>
          <p:nvPr/>
        </p:nvSpPr>
        <p:spPr>
          <a:xfrm>
            <a:off x="758952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7" name="Shape 15"/>
          <p:cNvSpPr/>
          <p:nvPr/>
        </p:nvSpPr>
        <p:spPr>
          <a:xfrm>
            <a:off x="8138160" y="1920240"/>
            <a:ext cx="64008" cy="64008"/>
          </a:xfrm>
          <a:prstGeom prst="ellipse">
            <a:avLst/>
          </a:prstGeom>
          <a:solidFill>
            <a:srgbClr val="253D78"/>
          </a:solidFill>
          <a:ln w="12700">
            <a:solidFill>
              <a:srgbClr val="253D78"/>
            </a:solidFill>
            <a:prstDash val="solid"/>
          </a:ln>
        </p:spPr>
        <p:txBody>
          <a:bodyPr/>
          <a:lstStyle/>
          <a:p>
            <a:endParaRPr lang="nl-NL"/>
          </a:p>
        </p:txBody>
      </p:sp>
      <p:sp>
        <p:nvSpPr>
          <p:cNvPr id="18" name="Shape 16"/>
          <p:cNvSpPr/>
          <p:nvPr/>
        </p:nvSpPr>
        <p:spPr>
          <a:xfrm>
            <a:off x="594360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19" name="Shape 17"/>
          <p:cNvSpPr/>
          <p:nvPr/>
        </p:nvSpPr>
        <p:spPr>
          <a:xfrm>
            <a:off x="649224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0" name="Shape 18"/>
          <p:cNvSpPr/>
          <p:nvPr/>
        </p:nvSpPr>
        <p:spPr>
          <a:xfrm>
            <a:off x="704088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1" name="Shape 19"/>
          <p:cNvSpPr/>
          <p:nvPr/>
        </p:nvSpPr>
        <p:spPr>
          <a:xfrm>
            <a:off x="758952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2" name="Shape 20"/>
          <p:cNvSpPr/>
          <p:nvPr/>
        </p:nvSpPr>
        <p:spPr>
          <a:xfrm>
            <a:off x="8138160" y="2651760"/>
            <a:ext cx="64008" cy="64008"/>
          </a:xfrm>
          <a:prstGeom prst="ellipse">
            <a:avLst/>
          </a:prstGeom>
          <a:solidFill>
            <a:srgbClr val="253D78"/>
          </a:solidFill>
          <a:ln w="12700">
            <a:solidFill>
              <a:srgbClr val="253D78"/>
            </a:solidFill>
            <a:prstDash val="solid"/>
          </a:ln>
        </p:spPr>
        <p:txBody>
          <a:bodyPr/>
          <a:lstStyle/>
          <a:p>
            <a:endParaRPr lang="nl-NL"/>
          </a:p>
        </p:txBody>
      </p:sp>
      <p:sp>
        <p:nvSpPr>
          <p:cNvPr id="23" name="Shape 21"/>
          <p:cNvSpPr/>
          <p:nvPr/>
        </p:nvSpPr>
        <p:spPr>
          <a:xfrm>
            <a:off x="594360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4" name="Shape 22"/>
          <p:cNvSpPr/>
          <p:nvPr/>
        </p:nvSpPr>
        <p:spPr>
          <a:xfrm>
            <a:off x="649224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5" name="Shape 23"/>
          <p:cNvSpPr/>
          <p:nvPr/>
        </p:nvSpPr>
        <p:spPr>
          <a:xfrm>
            <a:off x="704088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6" name="Shape 24"/>
          <p:cNvSpPr/>
          <p:nvPr/>
        </p:nvSpPr>
        <p:spPr>
          <a:xfrm>
            <a:off x="758952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7" name="Shape 25"/>
          <p:cNvSpPr/>
          <p:nvPr/>
        </p:nvSpPr>
        <p:spPr>
          <a:xfrm>
            <a:off x="8138160" y="3383280"/>
            <a:ext cx="64008" cy="64008"/>
          </a:xfrm>
          <a:prstGeom prst="ellipse">
            <a:avLst/>
          </a:prstGeom>
          <a:solidFill>
            <a:srgbClr val="253D78"/>
          </a:solidFill>
          <a:ln w="12700">
            <a:solidFill>
              <a:srgbClr val="253D78"/>
            </a:solidFill>
            <a:prstDash val="solid"/>
          </a:ln>
        </p:spPr>
        <p:txBody>
          <a:bodyPr/>
          <a:lstStyle/>
          <a:p>
            <a:endParaRPr lang="nl-NL"/>
          </a:p>
        </p:txBody>
      </p:sp>
      <p:sp>
        <p:nvSpPr>
          <p:cNvPr id="28" name="Shape 26"/>
          <p:cNvSpPr/>
          <p:nvPr/>
        </p:nvSpPr>
        <p:spPr>
          <a:xfrm>
            <a:off x="594360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29" name="Shape 27"/>
          <p:cNvSpPr/>
          <p:nvPr/>
        </p:nvSpPr>
        <p:spPr>
          <a:xfrm>
            <a:off x="649224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0" name="Shape 28"/>
          <p:cNvSpPr/>
          <p:nvPr/>
        </p:nvSpPr>
        <p:spPr>
          <a:xfrm>
            <a:off x="704088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1" name="Shape 29"/>
          <p:cNvSpPr/>
          <p:nvPr/>
        </p:nvSpPr>
        <p:spPr>
          <a:xfrm>
            <a:off x="758952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2" name="Shape 30"/>
          <p:cNvSpPr/>
          <p:nvPr/>
        </p:nvSpPr>
        <p:spPr>
          <a:xfrm>
            <a:off x="8138160" y="4114800"/>
            <a:ext cx="64008" cy="64008"/>
          </a:xfrm>
          <a:prstGeom prst="ellipse">
            <a:avLst/>
          </a:prstGeom>
          <a:solidFill>
            <a:srgbClr val="253D78"/>
          </a:solidFill>
          <a:ln w="12700">
            <a:solidFill>
              <a:srgbClr val="253D78"/>
            </a:solidFill>
            <a:prstDash val="solid"/>
          </a:ln>
        </p:spPr>
        <p:txBody>
          <a:bodyPr/>
          <a:lstStyle/>
          <a:p>
            <a:endParaRPr lang="nl-NL"/>
          </a:p>
        </p:txBody>
      </p:sp>
      <p:sp>
        <p:nvSpPr>
          <p:cNvPr id="33" name="Shape 31"/>
          <p:cNvSpPr/>
          <p:nvPr/>
        </p:nvSpPr>
        <p:spPr>
          <a:xfrm>
            <a:off x="6858000" y="1097280"/>
            <a:ext cx="1645920" cy="1645920"/>
          </a:xfrm>
          <a:prstGeom prst="ellipse">
            <a:avLst/>
          </a:prstGeom>
          <a:solidFill>
            <a:srgbClr val="253D78"/>
          </a:solidFill>
          <a:ln w="25400">
            <a:solidFill>
              <a:srgbClr val="F5C518"/>
            </a:solidFill>
            <a:prstDash val="solid"/>
          </a:ln>
        </p:spPr>
        <p:txBody>
          <a:bodyPr/>
          <a:lstStyle/>
          <a:p>
            <a:endParaRPr lang="nl-NL"/>
          </a:p>
        </p:txBody>
      </p:sp>
      <p:sp>
        <p:nvSpPr>
          <p:cNvPr id="34" name="Shape 32"/>
          <p:cNvSpPr/>
          <p:nvPr/>
        </p:nvSpPr>
        <p:spPr>
          <a:xfrm>
            <a:off x="7223760" y="2926080"/>
            <a:ext cx="914400" cy="914400"/>
          </a:xfrm>
          <a:prstGeom prst="ellipse">
            <a:avLst/>
          </a:prstGeom>
          <a:solidFill>
            <a:srgbClr val="F5C518"/>
          </a:solidFill>
          <a:ln w="12700">
            <a:solidFill>
              <a:srgbClr val="F5C518"/>
            </a:solidFill>
            <a:prstDash val="solid"/>
          </a:ln>
        </p:spPr>
        <p:txBody>
          <a:bodyPr/>
          <a:lstStyle/>
          <a:p>
            <a:endParaRPr lang="nl-NL"/>
          </a:p>
        </p:txBody>
      </p:sp>
      <p:sp>
        <p:nvSpPr>
          <p:cNvPr id="35" name="Text 33"/>
          <p:cNvSpPr/>
          <p:nvPr/>
        </p:nvSpPr>
        <p:spPr>
          <a:xfrm>
            <a:off x="548640" y="1371600"/>
            <a:ext cx="493776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36" name="Shape 34"/>
          <p:cNvSpPr/>
          <p:nvPr/>
        </p:nvSpPr>
        <p:spPr>
          <a:xfrm>
            <a:off x="548640" y="2267712"/>
            <a:ext cx="1371600" cy="54864"/>
          </a:xfrm>
          <a:prstGeom prst="rect">
            <a:avLst/>
          </a:prstGeom>
          <a:solidFill>
            <a:srgbClr val="F5C518"/>
          </a:solidFill>
          <a:ln w="12700">
            <a:solidFill>
              <a:srgbClr val="F5C518"/>
            </a:solidFill>
            <a:prstDash val="solid"/>
          </a:ln>
        </p:spPr>
        <p:txBody>
          <a:bodyPr/>
          <a:lstStyle/>
          <a:p>
            <a:endParaRPr lang="nl-NL"/>
          </a:p>
        </p:txBody>
      </p:sp>
      <p:sp>
        <p:nvSpPr>
          <p:cNvPr id="37" name="Text 35"/>
          <p:cNvSpPr/>
          <p:nvPr/>
        </p:nvSpPr>
        <p:spPr>
          <a:xfrm>
            <a:off x="548640" y="2404872"/>
            <a:ext cx="4754880" cy="365760"/>
          </a:xfrm>
          <a:prstGeom prst="rect">
            <a:avLst/>
          </a:prstGeom>
          <a:noFill/>
          <a:ln/>
        </p:spPr>
        <p:txBody>
          <a:bodyPr wrap="square" lIns="0" tIns="0" rIns="0" bIns="0" rtlCol="0" anchor="ctr"/>
          <a:lstStyle/>
          <a:p>
            <a:pPr marL="0" indent="0">
              <a:buNone/>
            </a:pPr>
            <a:r>
              <a:rPr lang="en-US" sz="1600" dirty="0">
                <a:solidFill>
                  <a:srgbClr val="9DB8E0"/>
                </a:solidFill>
                <a:latin typeface="Calibri" pitchFamily="34" charset="0"/>
                <a:ea typeface="Calibri" pitchFamily="34" charset="-122"/>
                <a:cs typeface="Calibri" pitchFamily="34" charset="-120"/>
              </a:rPr>
              <a:t>Questions &amp; Discussion</a:t>
            </a:r>
            <a:endParaRPr lang="en-US" sz="1600" dirty="0"/>
          </a:p>
        </p:txBody>
      </p:sp>
      <p:sp>
        <p:nvSpPr>
          <p:cNvPr id="38" name="Shape 36"/>
          <p:cNvSpPr/>
          <p:nvPr/>
        </p:nvSpPr>
        <p:spPr>
          <a:xfrm>
            <a:off x="548640" y="2926080"/>
            <a:ext cx="3474720" cy="868680"/>
          </a:xfrm>
          <a:prstGeom prst="rect">
            <a:avLst/>
          </a:prstGeom>
          <a:solidFill>
            <a:srgbClr val="253D78"/>
          </a:solidFill>
          <a:ln w="12700">
            <a:solidFill>
              <a:srgbClr val="253D78"/>
            </a:solidFill>
            <a:prstDash val="solid"/>
          </a:ln>
        </p:spPr>
        <p:txBody>
          <a:bodyPr/>
          <a:lstStyle/>
          <a:p>
            <a:endParaRPr lang="nl-NL"/>
          </a:p>
        </p:txBody>
      </p:sp>
      <p:sp>
        <p:nvSpPr>
          <p:cNvPr id="39" name="Shape 37"/>
          <p:cNvSpPr/>
          <p:nvPr/>
        </p:nvSpPr>
        <p:spPr>
          <a:xfrm>
            <a:off x="548640" y="2926080"/>
            <a:ext cx="45720" cy="868680"/>
          </a:xfrm>
          <a:prstGeom prst="rect">
            <a:avLst/>
          </a:prstGeom>
          <a:solidFill>
            <a:srgbClr val="F5C518"/>
          </a:solidFill>
          <a:ln w="12700">
            <a:solidFill>
              <a:srgbClr val="F5C518"/>
            </a:solidFill>
            <a:prstDash val="solid"/>
          </a:ln>
        </p:spPr>
        <p:txBody>
          <a:bodyPr/>
          <a:lstStyle/>
          <a:p>
            <a:endParaRPr lang="nl-NL"/>
          </a:p>
        </p:txBody>
      </p:sp>
      <p:sp>
        <p:nvSpPr>
          <p:cNvPr id="40" name="Text 38"/>
          <p:cNvSpPr/>
          <p:nvPr/>
        </p:nvSpPr>
        <p:spPr>
          <a:xfrm>
            <a:off x="685800" y="2999232"/>
            <a:ext cx="3200400" cy="6858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Milen Kolev</a:t>
            </a:r>
            <a:endParaRPr lang="en-US" sz="1200" dirty="0"/>
          </a:p>
          <a:p>
            <a:pPr marL="0" indent="0">
              <a:buNone/>
            </a:pPr>
            <a:r>
              <a:rPr lang="en-US" sz="1200" dirty="0">
                <a:solidFill>
                  <a:srgbClr val="9DB8E0"/>
                </a:solidFill>
                <a:latin typeface="Calibri" pitchFamily="34" charset="0"/>
                <a:ea typeface="Calibri" pitchFamily="34" charset="-122"/>
                <a:cs typeface="Calibri" pitchFamily="34" charset="-120"/>
              </a:rPr>
              <a:t>M.R.Kolev@tudelft.nl</a:t>
            </a:r>
          </a:p>
        </p:txBody>
      </p:sp>
      <p:sp>
        <p:nvSpPr>
          <p:cNvPr id="41" name="Shape 39"/>
          <p:cNvSpPr/>
          <p:nvPr/>
        </p:nvSpPr>
        <p:spPr>
          <a:xfrm>
            <a:off x="0" y="4892040"/>
            <a:ext cx="9144000" cy="251460"/>
          </a:xfrm>
          <a:prstGeom prst="rect">
            <a:avLst/>
          </a:prstGeom>
          <a:solidFill>
            <a:srgbClr val="0F1D3A"/>
          </a:solidFill>
          <a:ln w="12700">
            <a:solidFill>
              <a:srgbClr val="0F1D3A"/>
            </a:solidFill>
            <a:prstDash val="solid"/>
          </a:ln>
        </p:spPr>
        <p:txBody>
          <a:bodyPr/>
          <a:lstStyle/>
          <a:p>
            <a:endParaRPr lang="nl-NL"/>
          </a:p>
        </p:txBody>
      </p:sp>
      <p:sp>
        <p:nvSpPr>
          <p:cNvPr id="42" name="Text 40"/>
          <p:cNvSpPr/>
          <p:nvPr/>
        </p:nvSpPr>
        <p:spPr>
          <a:xfrm>
            <a:off x="365760" y="4901184"/>
            <a:ext cx="8229600" cy="201168"/>
          </a:xfrm>
          <a:prstGeom prst="rect">
            <a:avLst/>
          </a:prstGeom>
          <a:noFill/>
          <a:ln/>
        </p:spPr>
        <p:txBody>
          <a:bodyPr wrap="square" lIns="0" tIns="0" rIns="0" bIns="0" rtlCol="0" anchor="ctr"/>
          <a:lstStyle/>
          <a:p>
            <a:pPr marL="0" indent="0">
              <a:buNone/>
            </a:pPr>
            <a:r>
              <a:rPr lang="en-US" sz="800" i="1" dirty="0">
                <a:solidFill>
                  <a:srgbClr val="4A6A9A"/>
                </a:solidFill>
                <a:latin typeface="Calibri" pitchFamily="34" charset="0"/>
                <a:ea typeface="Calibri" pitchFamily="34" charset="-122"/>
                <a:cs typeface="Calibri" pitchFamily="34" charset="-120"/>
              </a:rPr>
              <a:t>Internal use only</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FC8B41-8D06-EB62-8816-69B097134D01}"/>
            </a:ext>
          </a:extLst>
        </p:cNvPr>
        <p:cNvGrpSpPr/>
        <p:nvPr/>
      </p:nvGrpSpPr>
      <p:grpSpPr>
        <a:xfrm>
          <a:off x="0" y="0"/>
          <a:ext cx="0" cy="0"/>
          <a:chOff x="0" y="0"/>
          <a:chExt cx="0" cy="0"/>
        </a:xfrm>
      </p:grpSpPr>
      <p:sp>
        <p:nvSpPr>
          <p:cNvPr id="2" name="Shape_Header">
            <a:extLst>
              <a:ext uri="{FF2B5EF4-FFF2-40B4-BE49-F238E27FC236}">
                <a16:creationId xmlns:a16="http://schemas.microsoft.com/office/drawing/2014/main" id="{72C9373D-B8FF-857D-0F4D-6B0A83CF5DDC}"/>
              </a:ext>
            </a:extLst>
          </p:cNvP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a:extLst>
              <a:ext uri="{FF2B5EF4-FFF2-40B4-BE49-F238E27FC236}">
                <a16:creationId xmlns:a16="http://schemas.microsoft.com/office/drawing/2014/main" id="{201116B0-A3F8-D1C7-6887-CF65E96A0D77}"/>
              </a:ext>
            </a:extLst>
          </p:cNvP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a:extLst>
              <a:ext uri="{FF2B5EF4-FFF2-40B4-BE49-F238E27FC236}">
                <a16:creationId xmlns:a16="http://schemas.microsoft.com/office/drawing/2014/main" id="{7D4F3D63-388A-9A75-B7CA-E3A5E98D6A35}"/>
              </a:ext>
            </a:extLst>
          </p:cNvP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a:extLst>
              <a:ext uri="{FF2B5EF4-FFF2-40B4-BE49-F238E27FC236}">
                <a16:creationId xmlns:a16="http://schemas.microsoft.com/office/drawing/2014/main" id="{6238AA29-5805-5EF8-2FE6-C2B33DFD4237}"/>
              </a:ext>
            </a:extLst>
          </p:cNvPr>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rPr>
              <a:t>Appendix 1</a:t>
            </a:r>
          </a:p>
        </p:txBody>
      </p:sp>
      <p:sp>
        <p:nvSpPr>
          <p:cNvPr id="6" name="Text_Subtitle">
            <a:extLst>
              <a:ext uri="{FF2B5EF4-FFF2-40B4-BE49-F238E27FC236}">
                <a16:creationId xmlns:a16="http://schemas.microsoft.com/office/drawing/2014/main" id="{9EBE08C8-9BAC-25F4-2F6A-0F3CF2AFE822}"/>
              </a:ext>
            </a:extLst>
          </p:cNvPr>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err="1">
                <a:solidFill>
                  <a:srgbClr val="9DB8E0"/>
                </a:solidFill>
                <a:latin typeface="Calibri" pitchFamily="34" charset="0"/>
              </a:rPr>
              <a:t>Microzed</a:t>
            </a:r>
            <a:r>
              <a:rPr lang="en-US" sz="1100" dirty="0">
                <a:solidFill>
                  <a:srgbClr val="9DB8E0"/>
                </a:solidFill>
                <a:latin typeface="Calibri" pitchFamily="34" charset="0"/>
              </a:rPr>
              <a:t> Board Boot Mode Jumpers</a:t>
            </a:r>
          </a:p>
        </p:txBody>
      </p:sp>
      <p:sp>
        <p:nvSpPr>
          <p:cNvPr id="97" name="Shape_Footer_BG">
            <a:extLst>
              <a:ext uri="{FF2B5EF4-FFF2-40B4-BE49-F238E27FC236}">
                <a16:creationId xmlns:a16="http://schemas.microsoft.com/office/drawing/2014/main" id="{19E01F13-4998-85BF-3EDE-EA6D7FE4BABD}"/>
              </a:ext>
            </a:extLst>
          </p:cNvPr>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a:extLst>
              <a:ext uri="{FF2B5EF4-FFF2-40B4-BE49-F238E27FC236}">
                <a16:creationId xmlns:a16="http://schemas.microsoft.com/office/drawing/2014/main" id="{34660BDE-1814-3259-20EF-FD6E5CDB4CDC}"/>
              </a:ext>
            </a:extLst>
          </p:cNvPr>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16" name="Text_Footer_Right">
            <a:extLst>
              <a:ext uri="{FF2B5EF4-FFF2-40B4-BE49-F238E27FC236}">
                <a16:creationId xmlns:a16="http://schemas.microsoft.com/office/drawing/2014/main" id="{E6C70130-9D0C-5876-F122-6A67C20D9FC1}"/>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32 / 32</a:t>
            </a:r>
          </a:p>
        </p:txBody>
      </p:sp>
      <p:pic>
        <p:nvPicPr>
          <p:cNvPr id="11" name="Picture 10">
            <a:extLst>
              <a:ext uri="{FF2B5EF4-FFF2-40B4-BE49-F238E27FC236}">
                <a16:creationId xmlns:a16="http://schemas.microsoft.com/office/drawing/2014/main" id="{6C92EDAB-DB39-39AC-35EA-0BCDB0AD6CEA}"/>
              </a:ext>
            </a:extLst>
          </p:cNvPr>
          <p:cNvPicPr>
            <a:picLocks noChangeAspect="1"/>
          </p:cNvPicPr>
          <p:nvPr/>
        </p:nvPicPr>
        <p:blipFill>
          <a:blip r:embed="rId2"/>
          <a:stretch>
            <a:fillRect/>
          </a:stretch>
        </p:blipFill>
        <p:spPr>
          <a:xfrm>
            <a:off x="1511617" y="1089091"/>
            <a:ext cx="6120765" cy="3683121"/>
          </a:xfrm>
          <a:prstGeom prst="rect">
            <a:avLst/>
          </a:prstGeom>
        </p:spPr>
      </p:pic>
    </p:spTree>
    <p:extLst>
      <p:ext uri="{BB962C8B-B14F-4D97-AF65-F5344CB8AC3E}">
        <p14:creationId xmlns:p14="http://schemas.microsoft.com/office/powerpoint/2010/main" val="2229901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5F6F7C-038D-2DF7-CFDE-A835440BFAA9}"/>
            </a:ext>
          </a:extLst>
        </p:cNvPr>
        <p:cNvGrpSpPr/>
        <p:nvPr/>
      </p:nvGrpSpPr>
      <p:grpSpPr>
        <a:xfrm>
          <a:off x="0" y="0"/>
          <a:ext cx="0" cy="0"/>
          <a:chOff x="0" y="0"/>
          <a:chExt cx="0" cy="0"/>
        </a:xfrm>
      </p:grpSpPr>
      <p:sp>
        <p:nvSpPr>
          <p:cNvPr id="2" name="Shape_Header">
            <a:extLst>
              <a:ext uri="{FF2B5EF4-FFF2-40B4-BE49-F238E27FC236}">
                <a16:creationId xmlns:a16="http://schemas.microsoft.com/office/drawing/2014/main" id="{820EBC29-63FA-7A90-6AB5-6F5F9F2DDEE2}"/>
              </a:ext>
            </a:extLst>
          </p:cNvP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a:extLst>
              <a:ext uri="{FF2B5EF4-FFF2-40B4-BE49-F238E27FC236}">
                <a16:creationId xmlns:a16="http://schemas.microsoft.com/office/drawing/2014/main" id="{06C47F46-9304-FB30-9E6E-AFD2D11E489D}"/>
              </a:ext>
            </a:extLst>
          </p:cNvP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a:extLst>
              <a:ext uri="{FF2B5EF4-FFF2-40B4-BE49-F238E27FC236}">
                <a16:creationId xmlns:a16="http://schemas.microsoft.com/office/drawing/2014/main" id="{57650E48-F568-E0FE-4D11-7CCB3B0BD6F8}"/>
              </a:ext>
            </a:extLst>
          </p:cNvP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a:extLst>
              <a:ext uri="{FF2B5EF4-FFF2-40B4-BE49-F238E27FC236}">
                <a16:creationId xmlns:a16="http://schemas.microsoft.com/office/drawing/2014/main" id="{B47128A2-6066-16C4-5D3C-7E70F56BDD43}"/>
              </a:ext>
            </a:extLst>
          </p:cNvPr>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rPr>
              <a:t>Appendix 2</a:t>
            </a:r>
          </a:p>
        </p:txBody>
      </p:sp>
      <p:sp>
        <p:nvSpPr>
          <p:cNvPr id="6" name="Text_Subtitle">
            <a:extLst>
              <a:ext uri="{FF2B5EF4-FFF2-40B4-BE49-F238E27FC236}">
                <a16:creationId xmlns:a16="http://schemas.microsoft.com/office/drawing/2014/main" id="{829961D4-EDA3-0510-C740-0FB78291B819}"/>
              </a:ext>
            </a:extLst>
          </p:cNvPr>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err="1">
                <a:solidFill>
                  <a:srgbClr val="9DB8E0"/>
                </a:solidFill>
                <a:latin typeface="Calibri" pitchFamily="34" charset="0"/>
              </a:rPr>
              <a:t>QiLab</a:t>
            </a:r>
            <a:r>
              <a:rPr lang="en-US" sz="1100" dirty="0">
                <a:solidFill>
                  <a:srgbClr val="9DB8E0"/>
                </a:solidFill>
                <a:latin typeface="Calibri" pitchFamily="34" charset="0"/>
              </a:rPr>
              <a:t> ribbon cable connection</a:t>
            </a:r>
          </a:p>
        </p:txBody>
      </p:sp>
      <p:sp>
        <p:nvSpPr>
          <p:cNvPr id="97" name="Shape_Footer_BG">
            <a:extLst>
              <a:ext uri="{FF2B5EF4-FFF2-40B4-BE49-F238E27FC236}">
                <a16:creationId xmlns:a16="http://schemas.microsoft.com/office/drawing/2014/main" id="{3CFA5A7D-6555-0804-3BD9-930C177AA253}"/>
              </a:ext>
            </a:extLst>
          </p:cNvPr>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a:extLst>
              <a:ext uri="{FF2B5EF4-FFF2-40B4-BE49-F238E27FC236}">
                <a16:creationId xmlns:a16="http://schemas.microsoft.com/office/drawing/2014/main" id="{79D45807-E8FA-728C-C2BA-7497BCC0E7DE}"/>
              </a:ext>
            </a:extLst>
          </p:cNvPr>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16" name="Text_Footer_Right">
            <a:extLst>
              <a:ext uri="{FF2B5EF4-FFF2-40B4-BE49-F238E27FC236}">
                <a16:creationId xmlns:a16="http://schemas.microsoft.com/office/drawing/2014/main" id="{E58B5EE9-6D37-EE94-A110-1419520341A8}"/>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32 / 32</a:t>
            </a:r>
          </a:p>
        </p:txBody>
      </p:sp>
      <p:pic>
        <p:nvPicPr>
          <p:cNvPr id="8" name="Picture 7">
            <a:extLst>
              <a:ext uri="{FF2B5EF4-FFF2-40B4-BE49-F238E27FC236}">
                <a16:creationId xmlns:a16="http://schemas.microsoft.com/office/drawing/2014/main" id="{E5263D7E-73C3-65D7-0EC9-B6F88AC8C521}"/>
              </a:ext>
            </a:extLst>
          </p:cNvPr>
          <p:cNvPicPr>
            <a:picLocks noChangeAspect="1"/>
          </p:cNvPicPr>
          <p:nvPr/>
        </p:nvPicPr>
        <p:blipFill>
          <a:blip r:embed="rId2"/>
          <a:stretch>
            <a:fillRect/>
          </a:stretch>
        </p:blipFill>
        <p:spPr>
          <a:xfrm>
            <a:off x="4656908" y="1257668"/>
            <a:ext cx="4216436" cy="3454757"/>
          </a:xfrm>
          <a:prstGeom prst="rect">
            <a:avLst/>
          </a:prstGeom>
        </p:spPr>
      </p:pic>
      <p:pic>
        <p:nvPicPr>
          <p:cNvPr id="10" name="Picture 9">
            <a:extLst>
              <a:ext uri="{FF2B5EF4-FFF2-40B4-BE49-F238E27FC236}">
                <a16:creationId xmlns:a16="http://schemas.microsoft.com/office/drawing/2014/main" id="{D36A91F3-4DD0-5A62-7D5A-5757BBDB1392}"/>
              </a:ext>
            </a:extLst>
          </p:cNvPr>
          <p:cNvPicPr>
            <a:picLocks noChangeAspect="1"/>
          </p:cNvPicPr>
          <p:nvPr/>
        </p:nvPicPr>
        <p:blipFill>
          <a:blip r:embed="rId3"/>
          <a:stretch>
            <a:fillRect/>
          </a:stretch>
        </p:blipFill>
        <p:spPr>
          <a:xfrm>
            <a:off x="88708" y="1586157"/>
            <a:ext cx="4483292" cy="2670702"/>
          </a:xfrm>
          <a:prstGeom prst="rect">
            <a:avLst/>
          </a:prstGeom>
        </p:spPr>
      </p:pic>
    </p:spTree>
    <p:extLst>
      <p:ext uri="{BB962C8B-B14F-4D97-AF65-F5344CB8AC3E}">
        <p14:creationId xmlns:p14="http://schemas.microsoft.com/office/powerpoint/2010/main" val="3396236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A33C20-7A46-8F63-1D0E-2498C633BEC6}"/>
            </a:ext>
          </a:extLst>
        </p:cNvPr>
        <p:cNvGrpSpPr/>
        <p:nvPr/>
      </p:nvGrpSpPr>
      <p:grpSpPr>
        <a:xfrm>
          <a:off x="0" y="0"/>
          <a:ext cx="0" cy="0"/>
          <a:chOff x="0" y="0"/>
          <a:chExt cx="0" cy="0"/>
        </a:xfrm>
      </p:grpSpPr>
      <p:sp>
        <p:nvSpPr>
          <p:cNvPr id="2" name="Shape_Header">
            <a:extLst>
              <a:ext uri="{FF2B5EF4-FFF2-40B4-BE49-F238E27FC236}">
                <a16:creationId xmlns:a16="http://schemas.microsoft.com/office/drawing/2014/main" id="{A890C7BC-60AD-9F19-ECC7-EAA9BDB33347}"/>
              </a:ext>
            </a:extLst>
          </p:cNvPr>
          <p:cNvSpPr/>
          <p:nvPr/>
        </p:nvSpPr>
        <p:spPr>
          <a:xfrm>
            <a:off x="0" y="0"/>
            <a:ext cx="9144000" cy="960120"/>
          </a:xfrm>
          <a:prstGeom prst="rect">
            <a:avLst/>
          </a:prstGeom>
          <a:solidFill>
            <a:srgbClr val="1A2E5A"/>
          </a:solidFill>
          <a:ln w="12700">
            <a:solidFill>
              <a:srgbClr val="1A2E5A"/>
            </a:solidFill>
            <a:prstDash val="solid"/>
          </a:ln>
        </p:spPr>
        <p:txBody>
          <a:bodyPr/>
          <a:lstStyle/>
          <a:p>
            <a:endParaRPr lang="nl-NL"/>
          </a:p>
        </p:txBody>
      </p:sp>
      <p:sp>
        <p:nvSpPr>
          <p:cNvPr id="3" name="Shape_YellowBar">
            <a:extLst>
              <a:ext uri="{FF2B5EF4-FFF2-40B4-BE49-F238E27FC236}">
                <a16:creationId xmlns:a16="http://schemas.microsoft.com/office/drawing/2014/main" id="{09340F67-158B-A805-F02D-E3BEFCC91296}"/>
              </a:ext>
            </a:extLst>
          </p:cNvPr>
          <p:cNvSpPr/>
          <p:nvPr/>
        </p:nvSpPr>
        <p:spPr>
          <a:xfrm>
            <a:off x="0" y="932688"/>
            <a:ext cx="3657600" cy="36576"/>
          </a:xfrm>
          <a:prstGeom prst="rect">
            <a:avLst/>
          </a:prstGeom>
          <a:solidFill>
            <a:srgbClr val="F5C518"/>
          </a:solidFill>
          <a:ln w="12700">
            <a:solidFill>
              <a:srgbClr val="F5C518"/>
            </a:solidFill>
            <a:prstDash val="solid"/>
          </a:ln>
        </p:spPr>
        <p:txBody>
          <a:bodyPr/>
          <a:lstStyle/>
          <a:p>
            <a:endParaRPr lang="nl-NL"/>
          </a:p>
        </p:txBody>
      </p:sp>
      <p:sp>
        <p:nvSpPr>
          <p:cNvPr id="4" name="Shape_BlueBar">
            <a:extLst>
              <a:ext uri="{FF2B5EF4-FFF2-40B4-BE49-F238E27FC236}">
                <a16:creationId xmlns:a16="http://schemas.microsoft.com/office/drawing/2014/main" id="{482E2782-7A88-740C-3335-BB1D6B771E12}"/>
              </a:ext>
            </a:extLst>
          </p:cNvPr>
          <p:cNvSpPr/>
          <p:nvPr/>
        </p:nvSpPr>
        <p:spPr>
          <a:xfrm>
            <a:off x="3657600" y="932688"/>
            <a:ext cx="3200400" cy="36576"/>
          </a:xfrm>
          <a:prstGeom prst="rect">
            <a:avLst/>
          </a:prstGeom>
          <a:solidFill>
            <a:srgbClr val="2E5FAD"/>
          </a:solidFill>
          <a:ln w="12700">
            <a:solidFill>
              <a:srgbClr val="2E5FAD"/>
            </a:solidFill>
            <a:prstDash val="solid"/>
          </a:ln>
        </p:spPr>
        <p:txBody>
          <a:bodyPr/>
          <a:lstStyle/>
          <a:p>
            <a:endParaRPr lang="nl-NL"/>
          </a:p>
        </p:txBody>
      </p:sp>
      <p:sp>
        <p:nvSpPr>
          <p:cNvPr id="5" name="Text_Title">
            <a:extLst>
              <a:ext uri="{FF2B5EF4-FFF2-40B4-BE49-F238E27FC236}">
                <a16:creationId xmlns:a16="http://schemas.microsoft.com/office/drawing/2014/main" id="{1CDE73CF-5D0E-E8A7-B7C5-5334050496A7}"/>
              </a:ext>
            </a:extLst>
          </p:cNvPr>
          <p:cNvSpPr/>
          <p:nvPr/>
        </p:nvSpPr>
        <p:spPr>
          <a:xfrm>
            <a:off x="411480" y="109728"/>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rPr>
              <a:t>Appendix 3</a:t>
            </a:r>
          </a:p>
        </p:txBody>
      </p:sp>
      <p:sp>
        <p:nvSpPr>
          <p:cNvPr id="6" name="Text_Subtitle">
            <a:extLst>
              <a:ext uri="{FF2B5EF4-FFF2-40B4-BE49-F238E27FC236}">
                <a16:creationId xmlns:a16="http://schemas.microsoft.com/office/drawing/2014/main" id="{C9F69D34-1451-ECA3-C91C-6F2AC6723933}"/>
              </a:ext>
            </a:extLst>
          </p:cNvPr>
          <p:cNvSpPr/>
          <p:nvPr/>
        </p:nvSpPr>
        <p:spPr>
          <a:xfrm>
            <a:off x="411480" y="612648"/>
            <a:ext cx="7772400" cy="274320"/>
          </a:xfrm>
          <a:prstGeom prst="rect">
            <a:avLst/>
          </a:prstGeom>
          <a:noFill/>
          <a:ln/>
        </p:spPr>
        <p:txBody>
          <a:bodyPr wrap="square" lIns="0" tIns="0" rIns="0" bIns="0" rtlCol="0" anchor="ctr"/>
          <a:lstStyle/>
          <a:p>
            <a:pPr marL="0" indent="0">
              <a:buNone/>
            </a:pPr>
            <a:r>
              <a:rPr lang="en-US" sz="1100" dirty="0">
                <a:solidFill>
                  <a:srgbClr val="9DB8E0"/>
                </a:solidFill>
                <a:latin typeface="Calibri" pitchFamily="34" charset="0"/>
              </a:rPr>
              <a:t>Pico Basic Software Architecture</a:t>
            </a:r>
          </a:p>
        </p:txBody>
      </p:sp>
      <p:sp>
        <p:nvSpPr>
          <p:cNvPr id="97" name="Shape_Footer_BG">
            <a:extLst>
              <a:ext uri="{FF2B5EF4-FFF2-40B4-BE49-F238E27FC236}">
                <a16:creationId xmlns:a16="http://schemas.microsoft.com/office/drawing/2014/main" id="{218397AA-80AB-430A-7333-FD726CDEC075}"/>
              </a:ext>
            </a:extLst>
          </p:cNvPr>
          <p:cNvSpPr/>
          <p:nvPr/>
        </p:nvSpPr>
        <p:spPr>
          <a:xfrm>
            <a:off x="0" y="4892040"/>
            <a:ext cx="9144000" cy="251460"/>
          </a:xfrm>
          <a:prstGeom prst="rect">
            <a:avLst/>
          </a:prstGeom>
          <a:solidFill>
            <a:srgbClr val="F4F7FC"/>
          </a:solidFill>
          <a:ln w="6350">
            <a:solidFill>
              <a:srgbClr val="D0DFF2"/>
            </a:solidFill>
            <a:prstDash val="solid"/>
          </a:ln>
        </p:spPr>
        <p:txBody>
          <a:bodyPr/>
          <a:lstStyle/>
          <a:p>
            <a:endParaRPr lang="nl-NL"/>
          </a:p>
        </p:txBody>
      </p:sp>
      <p:sp>
        <p:nvSpPr>
          <p:cNvPr id="98" name="Text_Footer_Left">
            <a:extLst>
              <a:ext uri="{FF2B5EF4-FFF2-40B4-BE49-F238E27FC236}">
                <a16:creationId xmlns:a16="http://schemas.microsoft.com/office/drawing/2014/main" id="{77EFDE98-9AC0-D8EC-A1DA-D449B9114DF0}"/>
              </a:ext>
            </a:extLst>
          </p:cNvPr>
          <p:cNvSpPr/>
          <p:nvPr/>
        </p:nvSpPr>
        <p:spPr>
          <a:xfrm>
            <a:off x="365760" y="4901184"/>
            <a:ext cx="4572000" cy="201168"/>
          </a:xfrm>
          <a:prstGeom prst="rect">
            <a:avLst/>
          </a:prstGeom>
          <a:noFill/>
          <a:ln/>
        </p:spPr>
        <p:txBody>
          <a:bodyPr wrap="square" lIns="0" tIns="0" rIns="0" bIns="0" rtlCol="0" anchor="ctr"/>
          <a:lstStyle/>
          <a:p>
            <a:pPr marL="0" indent="0">
              <a:buNone/>
            </a:pPr>
            <a:r>
              <a:rPr lang="en-US" sz="800" i="1" dirty="0">
                <a:solidFill>
                  <a:srgbClr val="9CA3AF"/>
                </a:solidFill>
                <a:latin typeface="Calibri" pitchFamily="34" charset="0"/>
              </a:rPr>
              <a:t>Internal use only</a:t>
            </a:r>
          </a:p>
        </p:txBody>
      </p:sp>
      <p:sp>
        <p:nvSpPr>
          <p:cNvPr id="16" name="Text_Footer_Right">
            <a:extLst>
              <a:ext uri="{FF2B5EF4-FFF2-40B4-BE49-F238E27FC236}">
                <a16:creationId xmlns:a16="http://schemas.microsoft.com/office/drawing/2014/main" id="{16F540B7-FE84-0EEF-27A9-ED85BF600F4A}"/>
              </a:ext>
            </a:extLst>
          </p:cNvPr>
          <p:cNvSpPr/>
          <p:nvPr/>
        </p:nvSpPr>
        <p:spPr>
          <a:xfrm>
            <a:off x="7772400" y="4901184"/>
            <a:ext cx="1005840" cy="201168"/>
          </a:xfrm>
          <a:prstGeom prst="rect">
            <a:avLst/>
          </a:prstGeom>
          <a:noFill/>
          <a:ln/>
        </p:spPr>
        <p:txBody>
          <a:bodyPr wrap="square" lIns="0" tIns="0" rIns="0" bIns="0" rtlCol="0" anchor="ctr"/>
          <a:lstStyle/>
          <a:p>
            <a:pPr marL="0" indent="0" algn="r">
              <a:buNone/>
            </a:pPr>
            <a:r>
              <a:rPr lang="en-US" sz="800" b="1" dirty="0">
                <a:solidFill>
                  <a:srgbClr val="2E5FAD"/>
                </a:solidFill>
                <a:latin typeface="Calibri" pitchFamily="34" charset="0"/>
              </a:rPr>
              <a:t>32 / 32</a:t>
            </a:r>
          </a:p>
        </p:txBody>
      </p:sp>
      <p:pic>
        <p:nvPicPr>
          <p:cNvPr id="12" name="Graphic 11">
            <a:extLst>
              <a:ext uri="{FF2B5EF4-FFF2-40B4-BE49-F238E27FC236}">
                <a16:creationId xmlns:a16="http://schemas.microsoft.com/office/drawing/2014/main" id="{8D28FE39-F105-3D38-ED9D-26459BC846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3953" y="1301339"/>
            <a:ext cx="7622177" cy="3083266"/>
          </a:xfrm>
          <a:prstGeom prst="rect">
            <a:avLst/>
          </a:prstGeom>
        </p:spPr>
      </p:pic>
    </p:spTree>
    <p:extLst>
      <p:ext uri="{BB962C8B-B14F-4D97-AF65-F5344CB8AC3E}">
        <p14:creationId xmlns:p14="http://schemas.microsoft.com/office/powerpoint/2010/main" val="1740657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10156</TotalTime>
  <Words>1894</Words>
  <Application>Microsoft Office PowerPoint</Application>
  <PresentationFormat>On-screen Show (16:9)</PresentationFormat>
  <Paragraphs>347</Paragraphs>
  <Slides>23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QI Lab – Overview</dc:title>
  <dc:subject>PptxGenJS Presentation</dc:subject>
  <dc:creator>PptxGenJS</dc:creator>
  <cp:lastModifiedBy>Milen Kolev</cp:lastModifiedBy>
  <cp:revision>3</cp:revision>
  <dcterms:created xsi:type="dcterms:W3CDTF">2026-03-18T12:29:31Z</dcterms:created>
  <dcterms:modified xsi:type="dcterms:W3CDTF">2026-10-07T08:26:23Z</dcterms:modified>
</cp:coreProperties>
</file>